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1"/>
  </p:normalViewPr>
  <p:slideViewPr>
    <p:cSldViewPr snapToGrid="0">
      <p:cViewPr varScale="1">
        <p:scale>
          <a:sx n="153" d="100"/>
          <a:sy n="153" d="100"/>
        </p:scale>
        <p:origin x="5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291fbab4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291fbab4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291fbab4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291fbab42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291fbab42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291fbab42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291fbab42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291fbab42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291fbab42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291fbab42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291fbab42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291fbab42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291fbab42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291fbab42_1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291fbab42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291fbab42_1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97fd8f0f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97fd8f0f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291fbab42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291fbab42_1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97fd8f0f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97fd8f0f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291fbab42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291fbab42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291fbab42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291fbab42_1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291fbab4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291fbab42_1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291fbab42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291fbab42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291fbab42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e291fbab42_1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291fbab42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291fbab42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291fbab42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291fbab42_1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291fbab42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e291fbab42_1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291fbab42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e291fbab42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291fbab42_1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e291fbab42_1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291fbab42_1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e291fbab42_1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291fbab42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e291fbab42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291fbab42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291fbab42_1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291fbab42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e291fbab42_1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3b7dda40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e3b7dda40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291fbab42_1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291fbab42_1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291fbab42_1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291fbab42_1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3b7dda40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e3b7dda40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e3b7dda40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e3b7dda40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291fbab42_1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e291fbab42_1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97fd8f0fc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e97fd8f0fc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97fd8f0fc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97fd8f0fc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97fd8f0fc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e97fd8f0fc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97fd8f0fc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e97fd8f0fc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97fd8f0f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e97fd8f0f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97fd8f0fc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e97fd8f0fc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97fd8f0fc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e97fd8f0fc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97fd8f0fc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e97fd8f0fc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3b7dda4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e3b7dda4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emf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Lock a Laser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(With Pictures)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64025" y="136900"/>
            <a:ext cx="24153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Nolan McCleary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Laser and Why is it Useful?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773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 perfect laser produces light waves that are all in phase with one another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This coherence can be exploited to do useful things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Interferometry, where relative phase differences between two beams encodes spatial distortions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Optical PSK, where the relative phase differences encodes a transmission symbol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Lithography applications where an extremely precise wavelength and high degree of coherence is required</a:t>
            </a:r>
            <a:endParaRPr dirty="0"/>
          </a:p>
        </p:txBody>
      </p:sp>
      <p:pic>
        <p:nvPicPr>
          <p:cNvPr id="63" name="Google Shape;63;p14" title="las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4707" y="1152476"/>
            <a:ext cx="3824925" cy="3120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 lasers are not ideal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the laser’s phase </a:t>
            </a:r>
            <a:r>
              <a:rPr lang="en" i="1"/>
              <a:t>and </a:t>
            </a:r>
            <a:r>
              <a:rPr lang="en"/>
              <a:t>frequency are subject to random fluctuations</a:t>
            </a:r>
            <a:endParaRPr/>
          </a:p>
        </p:txBody>
      </p:sp>
      <p:pic>
        <p:nvPicPr>
          <p:cNvPr id="70" name="Google Shape;70;p15" title="goodlas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725" y="3412224"/>
            <a:ext cx="3272275" cy="154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badlaser.png"/>
          <p:cNvPicPr preferRelativeResize="0"/>
          <p:nvPr/>
        </p:nvPicPr>
        <p:blipFill rotWithShape="1">
          <a:blip r:embed="rId4">
            <a:alphaModFix/>
          </a:blip>
          <a:srcRect b="9025"/>
          <a:stretch/>
        </p:blipFill>
        <p:spPr>
          <a:xfrm>
            <a:off x="5080250" y="3363362"/>
            <a:ext cx="3661916" cy="14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244475" y="2855325"/>
            <a:ext cx="14961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Expectation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801250" y="2894450"/>
            <a:ext cx="15645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Reality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210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lang="en" sz="1630" dirty="0"/>
              <a:t>We don’t know how much each noise source contributes to our overall frequency noise</a:t>
            </a:r>
            <a:endParaRPr sz="1630" dirty="0"/>
          </a:p>
          <a:p>
            <a:pPr marL="457200" lvl="0" indent="-33210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lang="en" sz="1630" dirty="0"/>
              <a:t>However, we </a:t>
            </a:r>
            <a:r>
              <a:rPr lang="en" sz="1630" i="1" dirty="0"/>
              <a:t>do </a:t>
            </a:r>
            <a:r>
              <a:rPr lang="en" sz="1630" dirty="0"/>
              <a:t>know that adjusting the current into the laser diode will let us adjust the beam’s wavelength/frequency</a:t>
            </a:r>
            <a:endParaRPr sz="1630" dirty="0"/>
          </a:p>
          <a:p>
            <a:pPr marL="457200" lvl="0" indent="-33210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lang="en" sz="1630" dirty="0"/>
              <a:t>If we can measure frequency deviation at any given point in time, we can adjust the current to cancel it out i.e. we can keep the frequency fixed</a:t>
            </a:r>
            <a:endParaRPr sz="1630" dirty="0"/>
          </a:p>
          <a:p>
            <a:pPr marL="457200" lvl="0" indent="-33210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lang="en" sz="1630" dirty="0"/>
              <a:t>Doing this will let us stabilize both the frequency </a:t>
            </a:r>
            <a:r>
              <a:rPr lang="en" sz="1630" i="1" dirty="0"/>
              <a:t>and</a:t>
            </a:r>
            <a:r>
              <a:rPr lang="en" sz="1630" dirty="0"/>
              <a:t> the phase of the laser since phase is just the accumulated history of frequency</a:t>
            </a:r>
            <a:endParaRPr sz="1630" dirty="0"/>
          </a:p>
        </p:txBody>
      </p:sp>
      <p:sp>
        <p:nvSpPr>
          <p:cNvPr id="80" name="Google Shape;80;p16"/>
          <p:cNvSpPr txBox="1"/>
          <p:nvPr/>
        </p:nvSpPr>
        <p:spPr>
          <a:xfrm>
            <a:off x="616650" y="3950525"/>
            <a:ext cx="7910700" cy="5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00"/>
                </a:solidFill>
              </a:rPr>
              <a:t>Big Idea: Control current to control frequency, control frequency to control phase</a:t>
            </a:r>
            <a:endParaRPr sz="1800">
              <a:solidFill>
                <a:srgbClr val="99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Measure This?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23000" cy="25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can use some sort of </a:t>
            </a:r>
            <a:r>
              <a:rPr lang="en" i="1" dirty="0"/>
              <a:t>frequency discriminator </a:t>
            </a:r>
            <a:r>
              <a:rPr lang="en" dirty="0"/>
              <a:t>to give us a signal whenever the beam’s wavelength (and thus frequency) deviates from </a:t>
            </a:r>
            <a:r>
              <a:rPr lang="en" i="1" dirty="0"/>
              <a:t>resonance</a:t>
            </a:r>
            <a:endParaRPr i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One way we can do this is with a </a:t>
            </a:r>
            <a:r>
              <a:rPr lang="en" i="1" dirty="0"/>
              <a:t>ring resonator</a:t>
            </a:r>
            <a:endParaRPr dirty="0"/>
          </a:p>
        </p:txBody>
      </p:sp>
      <p:pic>
        <p:nvPicPr>
          <p:cNvPr id="87" name="Google Shape;87;p17" title="ring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567" y="1152475"/>
            <a:ext cx="2775282" cy="36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7968409" y="1194375"/>
            <a:ext cx="286725" cy="635600"/>
          </a:xfrm>
          <a:custGeom>
            <a:avLst/>
            <a:gdLst/>
            <a:ahLst/>
            <a:cxnLst/>
            <a:rect l="l" t="t" r="r" b="b"/>
            <a:pathLst>
              <a:path w="11469" h="25424" extrusionOk="0">
                <a:moveTo>
                  <a:pt x="11463" y="25424"/>
                </a:moveTo>
                <a:cubicBezTo>
                  <a:pt x="11463" y="18277"/>
                  <a:pt x="11567" y="9160"/>
                  <a:pt x="5987" y="4693"/>
                </a:cubicBezTo>
                <a:cubicBezTo>
                  <a:pt x="4447" y="3460"/>
                  <a:pt x="-359" y="1997"/>
                  <a:pt x="120" y="3911"/>
                </a:cubicBezTo>
                <a:cubicBezTo>
                  <a:pt x="443" y="5201"/>
                  <a:pt x="-428" y="7823"/>
                  <a:pt x="902" y="7823"/>
                </a:cubicBezTo>
                <a:cubicBezTo>
                  <a:pt x="3470" y="7823"/>
                  <a:pt x="2214" y="2597"/>
                  <a:pt x="4031" y="782"/>
                </a:cubicBezTo>
                <a:cubicBezTo>
                  <a:pt x="4340" y="473"/>
                  <a:pt x="4860" y="0"/>
                  <a:pt x="4423" y="0"/>
                </a:cubicBezTo>
                <a:cubicBezTo>
                  <a:pt x="2570" y="0"/>
                  <a:pt x="949" y="1863"/>
                  <a:pt x="120" y="352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89" name="Google Shape;89;p17" title="res2.png"/>
          <p:cNvPicPr preferRelativeResize="0"/>
          <p:nvPr/>
        </p:nvPicPr>
        <p:blipFill rotWithShape="1">
          <a:blip r:embed="rId4">
            <a:alphaModFix/>
          </a:blip>
          <a:srcRect l="12829" t="63116" r="14896" b="7417"/>
          <a:stretch/>
        </p:blipFill>
        <p:spPr>
          <a:xfrm>
            <a:off x="1035938" y="3334475"/>
            <a:ext cx="3774525" cy="15156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6559474" y="1415800"/>
            <a:ext cx="207413" cy="720600"/>
          </a:xfrm>
          <a:custGeom>
            <a:avLst/>
            <a:gdLst/>
            <a:ahLst/>
            <a:cxnLst/>
            <a:rect l="l" t="t" r="r" b="b"/>
            <a:pathLst>
              <a:path w="10546" h="28824" extrusionOk="0">
                <a:moveTo>
                  <a:pt x="10546" y="0"/>
                </a:moveTo>
                <a:cubicBezTo>
                  <a:pt x="3576" y="2789"/>
                  <a:pt x="-1765" y="13087"/>
                  <a:pt x="607" y="20210"/>
                </a:cubicBezTo>
                <a:cubicBezTo>
                  <a:pt x="1694" y="23473"/>
                  <a:pt x="6028" y="24753"/>
                  <a:pt x="7564" y="27830"/>
                </a:cubicBezTo>
                <a:cubicBezTo>
                  <a:pt x="8115" y="28935"/>
                  <a:pt x="5091" y="28884"/>
                  <a:pt x="3920" y="28493"/>
                </a:cubicBezTo>
                <a:cubicBezTo>
                  <a:pt x="2031" y="27863"/>
                  <a:pt x="5344" y="22894"/>
                  <a:pt x="7233" y="23523"/>
                </a:cubicBezTo>
                <a:cubicBezTo>
                  <a:pt x="8913" y="24082"/>
                  <a:pt x="7564" y="27054"/>
                  <a:pt x="7564" y="28824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91" name="Google Shape;91;p17"/>
          <p:cNvCxnSpPr/>
          <p:nvPr/>
        </p:nvCxnSpPr>
        <p:spPr>
          <a:xfrm>
            <a:off x="3044075" y="3564500"/>
            <a:ext cx="2454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" name="Google Shape;92;p17"/>
          <p:cNvCxnSpPr/>
          <p:nvPr/>
        </p:nvCxnSpPr>
        <p:spPr>
          <a:xfrm rot="10800000">
            <a:off x="2770963" y="3564500"/>
            <a:ext cx="3045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" name="Google Shape;93;p17"/>
          <p:cNvCxnSpPr/>
          <p:nvPr/>
        </p:nvCxnSpPr>
        <p:spPr>
          <a:xfrm>
            <a:off x="2700375" y="3584150"/>
            <a:ext cx="9900" cy="57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Conjugate FD Response</a:t>
            </a: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804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FD creates a new field and adds it back to the input field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Resultant field can be modelled as a stretch/rotation of the input field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Resultant fields from detune in either direction are complex conjugates of one another</a:t>
            </a:r>
            <a:endParaRPr/>
          </a:p>
          <a:p>
            <a:pPr marL="13716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0" name="Google Shape;100;p18" title="black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4725" y="2608875"/>
            <a:ext cx="2394550" cy="2403825"/>
          </a:xfrm>
          <a:prstGeom prst="rect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01" name="Google Shape;101;p18"/>
          <p:cNvCxnSpPr/>
          <p:nvPr/>
        </p:nvCxnSpPr>
        <p:spPr>
          <a:xfrm rot="10800000">
            <a:off x="4639950" y="3463125"/>
            <a:ext cx="732600" cy="32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8"/>
          <p:cNvCxnSpPr/>
          <p:nvPr/>
        </p:nvCxnSpPr>
        <p:spPr>
          <a:xfrm flipH="1">
            <a:off x="3776025" y="3826500"/>
            <a:ext cx="716700" cy="37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8"/>
          <p:cNvCxnSpPr/>
          <p:nvPr/>
        </p:nvCxnSpPr>
        <p:spPr>
          <a:xfrm rot="10800000" flipH="1">
            <a:off x="4492725" y="3502500"/>
            <a:ext cx="206100" cy="324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p18"/>
          <p:cNvCxnSpPr/>
          <p:nvPr/>
        </p:nvCxnSpPr>
        <p:spPr>
          <a:xfrm flipH="1">
            <a:off x="4738325" y="3855950"/>
            <a:ext cx="608700" cy="383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05;p18"/>
          <p:cNvCxnSpPr/>
          <p:nvPr/>
        </p:nvCxnSpPr>
        <p:spPr>
          <a:xfrm>
            <a:off x="4512425" y="3856050"/>
            <a:ext cx="274800" cy="3828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06;p18"/>
          <p:cNvCxnSpPr/>
          <p:nvPr/>
        </p:nvCxnSpPr>
        <p:spPr>
          <a:xfrm>
            <a:off x="3834800" y="4189825"/>
            <a:ext cx="923100" cy="9900"/>
          </a:xfrm>
          <a:prstGeom prst="straightConnector1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107;p18"/>
          <p:cNvCxnSpPr/>
          <p:nvPr/>
        </p:nvCxnSpPr>
        <p:spPr>
          <a:xfrm>
            <a:off x="3883850" y="3497325"/>
            <a:ext cx="825000" cy="198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108;p18"/>
          <p:cNvSpPr/>
          <p:nvPr/>
        </p:nvSpPr>
        <p:spPr>
          <a:xfrm>
            <a:off x="4581100" y="3679200"/>
            <a:ext cx="82125" cy="294600"/>
          </a:xfrm>
          <a:custGeom>
            <a:avLst/>
            <a:gdLst/>
            <a:ahLst/>
            <a:cxnLst/>
            <a:rect l="l" t="t" r="r" b="b"/>
            <a:pathLst>
              <a:path w="3285" h="11784" extrusionOk="0">
                <a:moveTo>
                  <a:pt x="0" y="0"/>
                </a:moveTo>
                <a:cubicBezTo>
                  <a:pt x="2038" y="3398"/>
                  <a:pt x="5115" y="10012"/>
                  <a:pt x="1571" y="11784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9" name="Google Shape;109;p18"/>
          <p:cNvSpPr/>
          <p:nvPr/>
        </p:nvSpPr>
        <p:spPr>
          <a:xfrm>
            <a:off x="3405839" y="3072488"/>
            <a:ext cx="601075" cy="116850"/>
          </a:xfrm>
          <a:custGeom>
            <a:avLst/>
            <a:gdLst/>
            <a:ahLst/>
            <a:cxnLst/>
            <a:rect l="l" t="t" r="r" b="b"/>
            <a:pathLst>
              <a:path w="24043" h="4674" extrusionOk="0">
                <a:moveTo>
                  <a:pt x="1250" y="1515"/>
                </a:moveTo>
                <a:cubicBezTo>
                  <a:pt x="6195" y="1515"/>
                  <a:pt x="11140" y="1515"/>
                  <a:pt x="16085" y="1515"/>
                </a:cubicBezTo>
                <a:cubicBezTo>
                  <a:pt x="17771" y="1515"/>
                  <a:pt x="19467" y="1329"/>
                  <a:pt x="21143" y="1515"/>
                </a:cubicBezTo>
                <a:cubicBezTo>
                  <a:pt x="22043" y="1615"/>
                  <a:pt x="24650" y="1447"/>
                  <a:pt x="23840" y="1852"/>
                </a:cubicBezTo>
                <a:cubicBezTo>
                  <a:pt x="17104" y="5220"/>
                  <a:pt x="8491" y="3586"/>
                  <a:pt x="1250" y="1515"/>
                </a:cubicBezTo>
                <a:cubicBezTo>
                  <a:pt x="737" y="1368"/>
                  <a:pt x="-239" y="1416"/>
                  <a:pt x="238" y="1177"/>
                </a:cubicBezTo>
                <a:cubicBezTo>
                  <a:pt x="5060" y="-1241"/>
                  <a:pt x="11027" y="1177"/>
                  <a:pt x="16422" y="1177"/>
                </a:cubicBezTo>
                <a:cubicBezTo>
                  <a:pt x="18473" y="1177"/>
                  <a:pt x="22988" y="199"/>
                  <a:pt x="22491" y="2189"/>
                </a:cubicBezTo>
                <a:cubicBezTo>
                  <a:pt x="21523" y="6061"/>
                  <a:pt x="14681" y="4212"/>
                  <a:pt x="10690" y="4212"/>
                </a:cubicBezTo>
                <a:cubicBezTo>
                  <a:pt x="7604" y="4212"/>
                  <a:pt x="839" y="5520"/>
                  <a:pt x="1587" y="2526"/>
                </a:cubicBezTo>
                <a:cubicBezTo>
                  <a:pt x="2625" y="-1630"/>
                  <a:pt x="10115" y="1515"/>
                  <a:pt x="14399" y="1515"/>
                </a:cubicBezTo>
                <a:cubicBezTo>
                  <a:pt x="16201" y="1515"/>
                  <a:pt x="21293" y="176"/>
                  <a:pt x="19794" y="1177"/>
                </a:cubicBezTo>
                <a:cubicBezTo>
                  <a:pt x="16315" y="3499"/>
                  <a:pt x="11502" y="2526"/>
                  <a:pt x="7319" y="2526"/>
                </a:cubicBezTo>
                <a:cubicBezTo>
                  <a:pt x="5633" y="2526"/>
                  <a:pt x="1507" y="4034"/>
                  <a:pt x="2261" y="2526"/>
                </a:cubicBezTo>
                <a:cubicBezTo>
                  <a:pt x="4776" y="-2504"/>
                  <a:pt x="13496" y="1852"/>
                  <a:pt x="19120" y="1852"/>
                </a:cubicBezTo>
              </a:path>
            </a:pathLst>
          </a:custGeom>
          <a:noFill/>
          <a:ln w="762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Bessel Expansion of a Modulated Sinusoid</a:t>
            </a:r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modulate the phase of the input field, we can expand it with a Bessel Series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Cavity response now primarily composed of ~3 main fields when beta &lt; 1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Carrier signal and two sidebands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Imaginary component of sideband response won’t change sign when detune direction reversed, carrier’s will</a:t>
            </a:r>
            <a:endParaRPr/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 l="23154"/>
          <a:stretch/>
        </p:blipFill>
        <p:spPr>
          <a:xfrm>
            <a:off x="5440266" y="2621750"/>
            <a:ext cx="2847457" cy="196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 title="cavresp.png"/>
          <p:cNvPicPr preferRelativeResize="0"/>
          <p:nvPr/>
        </p:nvPicPr>
        <p:blipFill rotWithShape="1">
          <a:blip r:embed="rId4">
            <a:alphaModFix/>
          </a:blip>
          <a:srcRect l="1730" t="10729" b="17261"/>
          <a:stretch/>
        </p:blipFill>
        <p:spPr>
          <a:xfrm>
            <a:off x="613700" y="4584875"/>
            <a:ext cx="6693775" cy="41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 title="Screenshot 2026-05-18 at 7.38.45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0763" y="3965384"/>
            <a:ext cx="1846359" cy="342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 title="Screenshot 2026-05-18 at 7.39.28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725" y="3640600"/>
            <a:ext cx="4579272" cy="77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 title="ide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688" y="3000825"/>
            <a:ext cx="2221300" cy="41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 title="jacobiang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88400" y="2938963"/>
            <a:ext cx="2005900" cy="5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Series Discriminator Response and Power Output</a:t>
            </a: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Discriminator response is different between center frequency and sidebands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Center frequency response flips over imaginary axis if detune direction flips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Sideband response doesn’t do this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feed optical signal from a frequency discriminator to a photodiode, the resulting current is proportional to the optical power delivered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Mathematically this means we are multiplying the FD output by its complex conjugate</a:t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550" y="2969450"/>
            <a:ext cx="3881252" cy="205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 title="photodi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2100" y="2997450"/>
            <a:ext cx="2286000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Rid Of The Carrier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3 main terms in our reflected signal, all are at a very high frequency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were somehow able to encode phase offset information in a beat signal, we could have it at a frequency instead of at carrier frequency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do this by getting the power of our optical signal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That’s exactly what a photodiode does!</a:t>
            </a:r>
            <a:endParaRPr/>
          </a:p>
        </p:txBody>
      </p:sp>
      <p:pic>
        <p:nvPicPr>
          <p:cNvPr id="136" name="Google Shape;136;p21" title="photodi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3650" y="2938525"/>
            <a:ext cx="2286000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Rid Of The Carrier</a:t>
            </a:r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381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Power density of light wave is cross product of the magnetic field intensity vector with the electric field vector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Magnetic field intensity amplitude is equal to electric field amplitude divided by medium’s wave impedance constant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For our purposes, we disregard the constant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Since both fields are orthogonal, this means that power density is equal to electric field amplitude squared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 = |E|*|H| = |E|^2/Z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Our photodiode gives us a current proportional to this power signal</a:t>
            </a:r>
            <a:endParaRPr/>
          </a:p>
        </p:txBody>
      </p:sp>
      <p:pic>
        <p:nvPicPr>
          <p:cNvPr id="143" name="Google Shape;143;p22" title="planewav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375" y="1395914"/>
            <a:ext cx="3312625" cy="2355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Rid Of The Carrier</a:t>
            </a:r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85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Photodiode current is proportional to our optical power, optical power is proportional to the length of our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we have the current, we can convert it to a voltage and feed it to our demod + control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980000"/>
              </a:solidFill>
            </a:endParaRPr>
          </a:p>
        </p:txBody>
      </p:sp>
      <p:pic>
        <p:nvPicPr>
          <p:cNvPr id="150" name="Google Shape;150;p23" title="pd_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000" y="2632188"/>
            <a:ext cx="4436674" cy="15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3"/>
          <p:cNvSpPr/>
          <p:nvPr/>
        </p:nvSpPr>
        <p:spPr>
          <a:xfrm>
            <a:off x="732508" y="2946481"/>
            <a:ext cx="4707825" cy="842550"/>
          </a:xfrm>
          <a:custGeom>
            <a:avLst/>
            <a:gdLst/>
            <a:ahLst/>
            <a:cxnLst/>
            <a:rect l="l" t="t" r="r" b="b"/>
            <a:pathLst>
              <a:path w="188313" h="33702" extrusionOk="0">
                <a:moveTo>
                  <a:pt x="85" y="6253"/>
                </a:moveTo>
                <a:cubicBezTo>
                  <a:pt x="8295" y="5506"/>
                  <a:pt x="16439" y="3933"/>
                  <a:pt x="24437" y="1932"/>
                </a:cubicBezTo>
                <a:cubicBezTo>
                  <a:pt x="34852" y="-674"/>
                  <a:pt x="45910" y="1932"/>
                  <a:pt x="56646" y="1932"/>
                </a:cubicBezTo>
                <a:cubicBezTo>
                  <a:pt x="79427" y="1932"/>
                  <a:pt x="102209" y="1932"/>
                  <a:pt x="124990" y="1932"/>
                </a:cubicBezTo>
                <a:cubicBezTo>
                  <a:pt x="143997" y="1932"/>
                  <a:pt x="164942" y="-3814"/>
                  <a:pt x="181944" y="4682"/>
                </a:cubicBezTo>
                <a:cubicBezTo>
                  <a:pt x="186797" y="7107"/>
                  <a:pt x="189870" y="15148"/>
                  <a:pt x="187443" y="20000"/>
                </a:cubicBezTo>
                <a:cubicBezTo>
                  <a:pt x="179630" y="35616"/>
                  <a:pt x="153342" y="31749"/>
                  <a:pt x="135988" y="29820"/>
                </a:cubicBezTo>
                <a:cubicBezTo>
                  <a:pt x="115532" y="27546"/>
                  <a:pt x="94697" y="23773"/>
                  <a:pt x="74321" y="26678"/>
                </a:cubicBezTo>
                <a:cubicBezTo>
                  <a:pt x="66565" y="27784"/>
                  <a:pt x="58934" y="29741"/>
                  <a:pt x="51147" y="30606"/>
                </a:cubicBezTo>
                <a:cubicBezTo>
                  <a:pt x="41745" y="31650"/>
                  <a:pt x="32326" y="32962"/>
                  <a:pt x="22866" y="32962"/>
                </a:cubicBezTo>
                <a:cubicBezTo>
                  <a:pt x="19329" y="32962"/>
                  <a:pt x="15023" y="34779"/>
                  <a:pt x="12261" y="32569"/>
                </a:cubicBezTo>
                <a:cubicBezTo>
                  <a:pt x="4922" y="26698"/>
                  <a:pt x="-5179" y="10063"/>
                  <a:pt x="3227" y="5860"/>
                </a:cubicBezTo>
              </a:path>
            </a:pathLst>
          </a:custGeom>
          <a:noFill/>
          <a:ln w="19050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2" name="Google Shape;152;p23"/>
          <p:cNvSpPr txBox="1"/>
          <p:nvPr/>
        </p:nvSpPr>
        <p:spPr>
          <a:xfrm>
            <a:off x="5616125" y="3108950"/>
            <a:ext cx="2956500" cy="7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80000"/>
                </a:solidFill>
              </a:rPr>
              <a:t>Complex vector rotating at modulation frequency that flips by 180 degrees when detune direction changes</a:t>
            </a:r>
            <a:endParaRPr sz="12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>
            <a:spLocks noGrp="1"/>
          </p:cNvSpPr>
          <p:nvPr>
            <p:ph type="title"/>
          </p:nvPr>
        </p:nvSpPr>
        <p:spPr>
          <a:xfrm>
            <a:off x="311700" y="1563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Rid Of The Carrier</a:t>
            </a:r>
            <a:endParaRPr/>
          </a:p>
        </p:txBody>
      </p:sp>
      <p:cxnSp>
        <p:nvCxnSpPr>
          <p:cNvPr id="158" name="Google Shape;158;p24"/>
          <p:cNvCxnSpPr/>
          <p:nvPr/>
        </p:nvCxnSpPr>
        <p:spPr>
          <a:xfrm rot="10800000" flipH="1">
            <a:off x="1811150" y="2528450"/>
            <a:ext cx="1241100" cy="162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" name="Google Shape;159;p24"/>
          <p:cNvCxnSpPr/>
          <p:nvPr/>
        </p:nvCxnSpPr>
        <p:spPr>
          <a:xfrm rot="10800000">
            <a:off x="2294750" y="2287325"/>
            <a:ext cx="757500" cy="277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" name="Google Shape;160;p24"/>
          <p:cNvCxnSpPr/>
          <p:nvPr/>
        </p:nvCxnSpPr>
        <p:spPr>
          <a:xfrm rot="10800000">
            <a:off x="1876250" y="1695725"/>
            <a:ext cx="418500" cy="591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1" name="Google Shape;161;p24"/>
          <p:cNvCxnSpPr/>
          <p:nvPr/>
        </p:nvCxnSpPr>
        <p:spPr>
          <a:xfrm rot="10800000" flipH="1">
            <a:off x="180375" y="4156375"/>
            <a:ext cx="3738000" cy="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4"/>
          <p:cNvCxnSpPr/>
          <p:nvPr/>
        </p:nvCxnSpPr>
        <p:spPr>
          <a:xfrm rot="10800000" flipH="1">
            <a:off x="1825600" y="1768050"/>
            <a:ext cx="65100" cy="2388300"/>
          </a:xfrm>
          <a:prstGeom prst="straightConnector1">
            <a:avLst/>
          </a:prstGeom>
          <a:noFill/>
          <a:ln w="19050" cap="flat" cmpd="sng">
            <a:solidFill>
              <a:srgbClr val="FFD9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3" name="Google Shape;163;p24"/>
          <p:cNvSpPr/>
          <p:nvPr/>
        </p:nvSpPr>
        <p:spPr>
          <a:xfrm>
            <a:off x="2900775" y="2330725"/>
            <a:ext cx="303075" cy="209275"/>
          </a:xfrm>
          <a:custGeom>
            <a:avLst/>
            <a:gdLst/>
            <a:ahLst/>
            <a:cxnLst/>
            <a:rect l="l" t="t" r="r" b="b"/>
            <a:pathLst>
              <a:path w="12123" h="8371" extrusionOk="0">
                <a:moveTo>
                  <a:pt x="12123" y="8371"/>
                </a:moveTo>
                <a:cubicBezTo>
                  <a:pt x="8651" y="4899"/>
                  <a:pt x="4911" y="0"/>
                  <a:pt x="0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4" name="Google Shape;164;p24"/>
          <p:cNvSpPr/>
          <p:nvPr/>
        </p:nvSpPr>
        <p:spPr>
          <a:xfrm>
            <a:off x="2908511" y="2254322"/>
            <a:ext cx="125875" cy="213525"/>
          </a:xfrm>
          <a:custGeom>
            <a:avLst/>
            <a:gdLst/>
            <a:ahLst/>
            <a:cxnLst/>
            <a:rect l="l" t="t" r="r" b="b"/>
            <a:pathLst>
              <a:path w="5035" h="8541" extrusionOk="0">
                <a:moveTo>
                  <a:pt x="269" y="3056"/>
                </a:moveTo>
                <a:cubicBezTo>
                  <a:pt x="269" y="4907"/>
                  <a:pt x="-716" y="8541"/>
                  <a:pt x="1135" y="8541"/>
                </a:cubicBezTo>
                <a:cubicBezTo>
                  <a:pt x="1591" y="8541"/>
                  <a:pt x="1279" y="8108"/>
                  <a:pt x="1423" y="7675"/>
                </a:cubicBezTo>
                <a:cubicBezTo>
                  <a:pt x="2270" y="5132"/>
                  <a:pt x="6707" y="1369"/>
                  <a:pt x="4310" y="170"/>
                </a:cubicBezTo>
                <a:cubicBezTo>
                  <a:pt x="2949" y="-510"/>
                  <a:pt x="1634" y="1693"/>
                  <a:pt x="557" y="276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5" name="Google Shape;165;p24"/>
          <p:cNvSpPr/>
          <p:nvPr/>
        </p:nvSpPr>
        <p:spPr>
          <a:xfrm>
            <a:off x="3263035" y="2445250"/>
            <a:ext cx="144475" cy="206575"/>
          </a:xfrm>
          <a:custGeom>
            <a:avLst/>
            <a:gdLst/>
            <a:ahLst/>
            <a:cxnLst/>
            <a:rect l="l" t="t" r="r" b="b"/>
            <a:pathLst>
              <a:path w="5779" h="8263" extrusionOk="0">
                <a:moveTo>
                  <a:pt x="519" y="0"/>
                </a:moveTo>
                <a:cubicBezTo>
                  <a:pt x="519" y="2709"/>
                  <a:pt x="-1038" y="9295"/>
                  <a:pt x="1385" y="8082"/>
                </a:cubicBezTo>
                <a:cubicBezTo>
                  <a:pt x="3347" y="7099"/>
                  <a:pt x="3650" y="-396"/>
                  <a:pt x="3117" y="1732"/>
                </a:cubicBezTo>
                <a:cubicBezTo>
                  <a:pt x="2686" y="3453"/>
                  <a:pt x="2641" y="7626"/>
                  <a:pt x="4271" y="6927"/>
                </a:cubicBezTo>
                <a:cubicBezTo>
                  <a:pt x="6075" y="6154"/>
                  <a:pt x="5810" y="3079"/>
                  <a:pt x="5426" y="1155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6" name="Google Shape;166;p24"/>
          <p:cNvSpPr/>
          <p:nvPr/>
        </p:nvSpPr>
        <p:spPr>
          <a:xfrm>
            <a:off x="3448806" y="2597725"/>
            <a:ext cx="38825" cy="86600"/>
          </a:xfrm>
          <a:custGeom>
            <a:avLst/>
            <a:gdLst/>
            <a:ahLst/>
            <a:cxnLst/>
            <a:rect l="l" t="t" r="r" b="b"/>
            <a:pathLst>
              <a:path w="1553" h="3464" extrusionOk="0">
                <a:moveTo>
                  <a:pt x="16" y="0"/>
                </a:moveTo>
                <a:cubicBezTo>
                  <a:pt x="16" y="1217"/>
                  <a:pt x="-47" y="3464"/>
                  <a:pt x="1170" y="3464"/>
                </a:cubicBezTo>
                <a:cubicBezTo>
                  <a:pt x="2151" y="3464"/>
                  <a:pt x="904" y="-354"/>
                  <a:pt x="593" y="577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7" name="Google Shape;167;p24"/>
          <p:cNvSpPr/>
          <p:nvPr/>
        </p:nvSpPr>
        <p:spPr>
          <a:xfrm>
            <a:off x="2111338" y="2352375"/>
            <a:ext cx="168850" cy="324725"/>
          </a:xfrm>
          <a:custGeom>
            <a:avLst/>
            <a:gdLst/>
            <a:ahLst/>
            <a:cxnLst/>
            <a:rect l="l" t="t" r="r" b="b"/>
            <a:pathLst>
              <a:path w="6754" h="12989" extrusionOk="0">
                <a:moveTo>
                  <a:pt x="6754" y="0"/>
                </a:moveTo>
                <a:cubicBezTo>
                  <a:pt x="3518" y="810"/>
                  <a:pt x="1684" y="5061"/>
                  <a:pt x="1270" y="8371"/>
                </a:cubicBezTo>
                <a:cubicBezTo>
                  <a:pt x="1119" y="9578"/>
                  <a:pt x="501" y="12988"/>
                  <a:pt x="116" y="11834"/>
                </a:cubicBezTo>
                <a:cubicBezTo>
                  <a:pt x="-350" y="10438"/>
                  <a:pt x="3404" y="9927"/>
                  <a:pt x="4445" y="10968"/>
                </a:cubicBezTo>
                <a:cubicBezTo>
                  <a:pt x="5072" y="11595"/>
                  <a:pt x="3452" y="12497"/>
                  <a:pt x="2714" y="12989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8" name="Google Shape;168;p24"/>
          <p:cNvSpPr/>
          <p:nvPr/>
        </p:nvSpPr>
        <p:spPr>
          <a:xfrm>
            <a:off x="2038267" y="2631597"/>
            <a:ext cx="148125" cy="69700"/>
          </a:xfrm>
          <a:custGeom>
            <a:avLst/>
            <a:gdLst/>
            <a:ahLst/>
            <a:cxnLst/>
            <a:rect l="l" t="t" r="r" b="b"/>
            <a:pathLst>
              <a:path w="5925" h="2788" extrusionOk="0">
                <a:moveTo>
                  <a:pt x="4193" y="88"/>
                </a:moveTo>
                <a:cubicBezTo>
                  <a:pt x="2859" y="355"/>
                  <a:pt x="-457" y="-552"/>
                  <a:pt x="152" y="665"/>
                </a:cubicBezTo>
                <a:cubicBezTo>
                  <a:pt x="1031" y="2420"/>
                  <a:pt x="5306" y="3682"/>
                  <a:pt x="5925" y="182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9" name="Google Shape;169;p24"/>
          <p:cNvSpPr/>
          <p:nvPr/>
        </p:nvSpPr>
        <p:spPr>
          <a:xfrm>
            <a:off x="2263180" y="2655450"/>
            <a:ext cx="125250" cy="180275"/>
          </a:xfrm>
          <a:custGeom>
            <a:avLst/>
            <a:gdLst/>
            <a:ahLst/>
            <a:cxnLst/>
            <a:rect l="l" t="t" r="r" b="b"/>
            <a:pathLst>
              <a:path w="5010" h="7211" extrusionOk="0">
                <a:moveTo>
                  <a:pt x="104" y="0"/>
                </a:moveTo>
                <a:cubicBezTo>
                  <a:pt x="104" y="1962"/>
                  <a:pt x="-311" y="4596"/>
                  <a:pt x="1259" y="5773"/>
                </a:cubicBezTo>
                <a:cubicBezTo>
                  <a:pt x="2503" y="6706"/>
                  <a:pt x="2991" y="-112"/>
                  <a:pt x="2991" y="1443"/>
                </a:cubicBezTo>
                <a:cubicBezTo>
                  <a:pt x="2991" y="3274"/>
                  <a:pt x="1408" y="5633"/>
                  <a:pt x="2702" y="6927"/>
                </a:cubicBezTo>
                <a:cubicBezTo>
                  <a:pt x="4295" y="8520"/>
                  <a:pt x="5011" y="2829"/>
                  <a:pt x="5011" y="577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0" name="Google Shape;170;p24"/>
          <p:cNvSpPr/>
          <p:nvPr/>
        </p:nvSpPr>
        <p:spPr>
          <a:xfrm>
            <a:off x="2460336" y="2677100"/>
            <a:ext cx="14700" cy="187600"/>
          </a:xfrm>
          <a:custGeom>
            <a:avLst/>
            <a:gdLst/>
            <a:ahLst/>
            <a:cxnLst/>
            <a:rect l="l" t="t" r="r" b="b"/>
            <a:pathLst>
              <a:path w="588" h="7504" extrusionOk="0">
                <a:moveTo>
                  <a:pt x="589" y="0"/>
                </a:moveTo>
                <a:cubicBezTo>
                  <a:pt x="589" y="2503"/>
                  <a:pt x="-493" y="5130"/>
                  <a:pt x="300" y="7504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1" name="Google Shape;171;p24"/>
          <p:cNvSpPr/>
          <p:nvPr/>
        </p:nvSpPr>
        <p:spPr>
          <a:xfrm>
            <a:off x="2446175" y="2749250"/>
            <a:ext cx="93800" cy="14450"/>
          </a:xfrm>
          <a:custGeom>
            <a:avLst/>
            <a:gdLst/>
            <a:ahLst/>
            <a:cxnLst/>
            <a:rect l="l" t="t" r="r" b="b"/>
            <a:pathLst>
              <a:path w="3752" h="578" extrusionOk="0">
                <a:moveTo>
                  <a:pt x="0" y="0"/>
                </a:moveTo>
                <a:cubicBezTo>
                  <a:pt x="1253" y="179"/>
                  <a:pt x="2487" y="578"/>
                  <a:pt x="3752" y="578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" name="Google Shape;172;p24"/>
          <p:cNvSpPr/>
          <p:nvPr/>
        </p:nvSpPr>
        <p:spPr>
          <a:xfrm>
            <a:off x="2438950" y="2756475"/>
            <a:ext cx="50525" cy="7225"/>
          </a:xfrm>
          <a:custGeom>
            <a:avLst/>
            <a:gdLst/>
            <a:ahLst/>
            <a:cxnLst/>
            <a:rect l="l" t="t" r="r" b="b"/>
            <a:pathLst>
              <a:path w="2021" h="289" extrusionOk="0">
                <a:moveTo>
                  <a:pt x="0" y="0"/>
                </a:moveTo>
                <a:cubicBezTo>
                  <a:pt x="681" y="0"/>
                  <a:pt x="1375" y="74"/>
                  <a:pt x="2021" y="289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3" name="Google Shape;173;p24"/>
          <p:cNvSpPr/>
          <p:nvPr/>
        </p:nvSpPr>
        <p:spPr>
          <a:xfrm>
            <a:off x="2539975" y="2708711"/>
            <a:ext cx="151550" cy="155075"/>
          </a:xfrm>
          <a:custGeom>
            <a:avLst/>
            <a:gdLst/>
            <a:ahLst/>
            <a:cxnLst/>
            <a:rect l="l" t="t" r="r" b="b"/>
            <a:pathLst>
              <a:path w="6062" h="6203" extrusionOk="0">
                <a:moveTo>
                  <a:pt x="0" y="5663"/>
                </a:moveTo>
                <a:cubicBezTo>
                  <a:pt x="1917" y="5663"/>
                  <a:pt x="88" y="1165"/>
                  <a:pt x="1732" y="179"/>
                </a:cubicBezTo>
                <a:cubicBezTo>
                  <a:pt x="2327" y="-178"/>
                  <a:pt x="3020" y="801"/>
                  <a:pt x="3464" y="1334"/>
                </a:cubicBezTo>
                <a:cubicBezTo>
                  <a:pt x="4406" y="2465"/>
                  <a:pt x="2598" y="4191"/>
                  <a:pt x="2598" y="5663"/>
                </a:cubicBezTo>
                <a:cubicBezTo>
                  <a:pt x="2598" y="6818"/>
                  <a:pt x="4907" y="5663"/>
                  <a:pt x="6062" y="5663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4" name="Google Shape;174;p24"/>
          <p:cNvSpPr/>
          <p:nvPr/>
        </p:nvSpPr>
        <p:spPr>
          <a:xfrm>
            <a:off x="2381225" y="2821425"/>
            <a:ext cx="33950" cy="68325"/>
          </a:xfrm>
          <a:custGeom>
            <a:avLst/>
            <a:gdLst/>
            <a:ahLst/>
            <a:cxnLst/>
            <a:rect l="l" t="t" r="r" b="b"/>
            <a:pathLst>
              <a:path w="1358" h="2733" extrusionOk="0">
                <a:moveTo>
                  <a:pt x="289" y="0"/>
                </a:moveTo>
                <a:cubicBezTo>
                  <a:pt x="0" y="866"/>
                  <a:pt x="425" y="3144"/>
                  <a:pt x="1155" y="2597"/>
                </a:cubicBezTo>
                <a:cubicBezTo>
                  <a:pt x="1844" y="2081"/>
                  <a:pt x="272" y="-528"/>
                  <a:pt x="0" y="288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5" name="Google Shape;175;p24"/>
          <p:cNvSpPr/>
          <p:nvPr/>
        </p:nvSpPr>
        <p:spPr>
          <a:xfrm>
            <a:off x="1444846" y="3088400"/>
            <a:ext cx="106550" cy="243525"/>
          </a:xfrm>
          <a:custGeom>
            <a:avLst/>
            <a:gdLst/>
            <a:ahLst/>
            <a:cxnLst/>
            <a:rect l="l" t="t" r="r" b="b"/>
            <a:pathLst>
              <a:path w="4262" h="9741" extrusionOk="0">
                <a:moveTo>
                  <a:pt x="1953" y="0"/>
                </a:moveTo>
                <a:cubicBezTo>
                  <a:pt x="1327" y="3126"/>
                  <a:pt x="-1402" y="7533"/>
                  <a:pt x="1087" y="9525"/>
                </a:cubicBezTo>
                <a:cubicBezTo>
                  <a:pt x="1927" y="10197"/>
                  <a:pt x="3186" y="8948"/>
                  <a:pt x="4262" y="8948"/>
                </a:cubicBezTo>
              </a:path>
            </a:pathLst>
          </a:custGeom>
          <a:noFill/>
          <a:ln w="19050" cap="flat" cmpd="sng">
            <a:solidFill>
              <a:srgbClr val="FFD9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6" name="Google Shape;176;p24"/>
          <p:cNvSpPr/>
          <p:nvPr/>
        </p:nvSpPr>
        <p:spPr>
          <a:xfrm>
            <a:off x="1455469" y="3084021"/>
            <a:ext cx="168100" cy="129700"/>
          </a:xfrm>
          <a:custGeom>
            <a:avLst/>
            <a:gdLst/>
            <a:ahLst/>
            <a:cxnLst/>
            <a:rect l="l" t="t" r="r" b="b"/>
            <a:pathLst>
              <a:path w="6724" h="5188" extrusionOk="0">
                <a:moveTo>
                  <a:pt x="1239" y="4793"/>
                </a:moveTo>
                <a:cubicBezTo>
                  <a:pt x="2589" y="4793"/>
                  <a:pt x="6630" y="5082"/>
                  <a:pt x="5280" y="5082"/>
                </a:cubicBezTo>
                <a:cubicBezTo>
                  <a:pt x="3834" y="5082"/>
                  <a:pt x="2244" y="5440"/>
                  <a:pt x="951" y="4793"/>
                </a:cubicBezTo>
                <a:cubicBezTo>
                  <a:pt x="-340" y="4147"/>
                  <a:pt x="-286" y="1207"/>
                  <a:pt x="951" y="464"/>
                </a:cubicBezTo>
                <a:cubicBezTo>
                  <a:pt x="2601" y="-526"/>
                  <a:pt x="4800" y="464"/>
                  <a:pt x="6724" y="464"/>
                </a:cubicBezTo>
              </a:path>
            </a:pathLst>
          </a:custGeom>
          <a:noFill/>
          <a:ln w="19050" cap="flat" cmpd="sng">
            <a:solidFill>
              <a:srgbClr val="FFD9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7" name="Google Shape;177;p24"/>
          <p:cNvSpPr/>
          <p:nvPr/>
        </p:nvSpPr>
        <p:spPr>
          <a:xfrm>
            <a:off x="1479250" y="3034965"/>
            <a:ext cx="151525" cy="24575"/>
          </a:xfrm>
          <a:custGeom>
            <a:avLst/>
            <a:gdLst/>
            <a:ahLst/>
            <a:cxnLst/>
            <a:rect l="l" t="t" r="r" b="b"/>
            <a:pathLst>
              <a:path w="6061" h="983" extrusionOk="0">
                <a:moveTo>
                  <a:pt x="0" y="117"/>
                </a:moveTo>
                <a:cubicBezTo>
                  <a:pt x="1937" y="761"/>
                  <a:pt x="5417" y="-954"/>
                  <a:pt x="6061" y="983"/>
                </a:cubicBezTo>
              </a:path>
            </a:pathLst>
          </a:custGeom>
          <a:noFill/>
          <a:ln w="19050" cap="flat" cmpd="sng">
            <a:solidFill>
              <a:srgbClr val="FFD9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8" name="Google Shape;178;p24"/>
          <p:cNvSpPr/>
          <p:nvPr/>
        </p:nvSpPr>
        <p:spPr>
          <a:xfrm>
            <a:off x="1587475" y="2972950"/>
            <a:ext cx="28875" cy="86600"/>
          </a:xfrm>
          <a:custGeom>
            <a:avLst/>
            <a:gdLst/>
            <a:ahLst/>
            <a:cxnLst/>
            <a:rect l="l" t="t" r="r" b="b"/>
            <a:pathLst>
              <a:path w="1155" h="3464" extrusionOk="0">
                <a:moveTo>
                  <a:pt x="0" y="0"/>
                </a:moveTo>
                <a:cubicBezTo>
                  <a:pt x="200" y="1201"/>
                  <a:pt x="295" y="2603"/>
                  <a:pt x="1155" y="3464"/>
                </a:cubicBezTo>
              </a:path>
            </a:pathLst>
          </a:custGeom>
          <a:noFill/>
          <a:ln w="19050" cap="flat" cmpd="sng">
            <a:solidFill>
              <a:srgbClr val="FFD9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9" name="Google Shape;179;p24"/>
          <p:cNvSpPr/>
          <p:nvPr/>
        </p:nvSpPr>
        <p:spPr>
          <a:xfrm>
            <a:off x="1469834" y="1501806"/>
            <a:ext cx="492850" cy="311575"/>
          </a:xfrm>
          <a:custGeom>
            <a:avLst/>
            <a:gdLst/>
            <a:ahLst/>
            <a:cxnLst/>
            <a:rect l="l" t="t" r="r" b="b"/>
            <a:pathLst>
              <a:path w="19714" h="12463" extrusionOk="0">
                <a:moveTo>
                  <a:pt x="19715" y="253"/>
                </a:moveTo>
                <a:cubicBezTo>
                  <a:pt x="15428" y="253"/>
                  <a:pt x="10046" y="-758"/>
                  <a:pt x="7015" y="2273"/>
                </a:cubicBezTo>
                <a:cubicBezTo>
                  <a:pt x="4424" y="4864"/>
                  <a:pt x="6240" y="11487"/>
                  <a:pt x="2686" y="12376"/>
                </a:cubicBezTo>
                <a:cubicBezTo>
                  <a:pt x="1286" y="12726"/>
                  <a:pt x="-263" y="10312"/>
                  <a:pt x="88" y="8912"/>
                </a:cubicBezTo>
                <a:cubicBezTo>
                  <a:pt x="717" y="6399"/>
                  <a:pt x="8753" y="8616"/>
                  <a:pt x="7593" y="10932"/>
                </a:cubicBezTo>
                <a:cubicBezTo>
                  <a:pt x="6746" y="12622"/>
                  <a:pt x="3999" y="12376"/>
                  <a:pt x="2109" y="12376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0" name="Google Shape;180;p24"/>
          <p:cNvSpPr/>
          <p:nvPr/>
        </p:nvSpPr>
        <p:spPr>
          <a:xfrm>
            <a:off x="2055836" y="1226700"/>
            <a:ext cx="209925" cy="198125"/>
          </a:xfrm>
          <a:custGeom>
            <a:avLst/>
            <a:gdLst/>
            <a:ahLst/>
            <a:cxnLst/>
            <a:rect l="l" t="t" r="r" b="b"/>
            <a:pathLst>
              <a:path w="8397" h="7925" extrusionOk="0">
                <a:moveTo>
                  <a:pt x="1182" y="0"/>
                </a:moveTo>
                <a:cubicBezTo>
                  <a:pt x="554" y="2520"/>
                  <a:pt x="-1045" y="6456"/>
                  <a:pt x="1182" y="7793"/>
                </a:cubicBezTo>
                <a:cubicBezTo>
                  <a:pt x="2953" y="8856"/>
                  <a:pt x="4069" y="243"/>
                  <a:pt x="4069" y="2309"/>
                </a:cubicBezTo>
                <a:cubicBezTo>
                  <a:pt x="4069" y="4226"/>
                  <a:pt x="3883" y="7793"/>
                  <a:pt x="5800" y="7793"/>
                </a:cubicBezTo>
                <a:cubicBezTo>
                  <a:pt x="7998" y="7793"/>
                  <a:pt x="8398" y="3930"/>
                  <a:pt x="8398" y="1732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1" name="Google Shape;181;p24"/>
          <p:cNvSpPr/>
          <p:nvPr/>
        </p:nvSpPr>
        <p:spPr>
          <a:xfrm>
            <a:off x="2280200" y="1399875"/>
            <a:ext cx="40000" cy="92125"/>
          </a:xfrm>
          <a:custGeom>
            <a:avLst/>
            <a:gdLst/>
            <a:ahLst/>
            <a:cxnLst/>
            <a:rect l="l" t="t" r="r" b="b"/>
            <a:pathLst>
              <a:path w="1600" h="3685" extrusionOk="0">
                <a:moveTo>
                  <a:pt x="0" y="0"/>
                </a:moveTo>
                <a:cubicBezTo>
                  <a:pt x="0" y="1251"/>
                  <a:pt x="559" y="4349"/>
                  <a:pt x="1444" y="3464"/>
                </a:cubicBezTo>
                <a:cubicBezTo>
                  <a:pt x="2053" y="2855"/>
                  <a:pt x="289" y="294"/>
                  <a:pt x="289" y="1155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2" name="Google Shape;182;p24"/>
          <p:cNvSpPr/>
          <p:nvPr/>
        </p:nvSpPr>
        <p:spPr>
          <a:xfrm>
            <a:off x="2388450" y="1349375"/>
            <a:ext cx="129875" cy="8800"/>
          </a:xfrm>
          <a:custGeom>
            <a:avLst/>
            <a:gdLst/>
            <a:ahLst/>
            <a:cxnLst/>
            <a:rect l="l" t="t" r="r" b="b"/>
            <a:pathLst>
              <a:path w="5195" h="352" extrusionOk="0">
                <a:moveTo>
                  <a:pt x="0" y="288"/>
                </a:moveTo>
                <a:cubicBezTo>
                  <a:pt x="1734" y="288"/>
                  <a:pt x="3549" y="548"/>
                  <a:pt x="5195" y="0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3" name="Google Shape;183;p24"/>
          <p:cNvSpPr/>
          <p:nvPr/>
        </p:nvSpPr>
        <p:spPr>
          <a:xfrm>
            <a:off x="2626575" y="1277200"/>
            <a:ext cx="216475" cy="195000"/>
          </a:xfrm>
          <a:custGeom>
            <a:avLst/>
            <a:gdLst/>
            <a:ahLst/>
            <a:cxnLst/>
            <a:rect l="l" t="t" r="r" b="b"/>
            <a:pathLst>
              <a:path w="8659" h="7800" extrusionOk="0">
                <a:moveTo>
                  <a:pt x="0" y="7216"/>
                </a:moveTo>
                <a:cubicBezTo>
                  <a:pt x="1143" y="7407"/>
                  <a:pt x="2537" y="8200"/>
                  <a:pt x="3464" y="7505"/>
                </a:cubicBezTo>
                <a:cubicBezTo>
                  <a:pt x="5488" y="5986"/>
                  <a:pt x="2087" y="0"/>
                  <a:pt x="4618" y="0"/>
                </a:cubicBezTo>
                <a:cubicBezTo>
                  <a:pt x="7544" y="0"/>
                  <a:pt x="5733" y="7794"/>
                  <a:pt x="8659" y="7794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184" name="Google Shape;184;p24"/>
          <p:cNvCxnSpPr/>
          <p:nvPr/>
        </p:nvCxnSpPr>
        <p:spPr>
          <a:xfrm>
            <a:off x="4820225" y="2229725"/>
            <a:ext cx="28800" cy="202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" name="Google Shape;185;p24"/>
          <p:cNvCxnSpPr/>
          <p:nvPr/>
        </p:nvCxnSpPr>
        <p:spPr>
          <a:xfrm rot="10800000" flipH="1">
            <a:off x="4733625" y="4120325"/>
            <a:ext cx="2871900" cy="21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24"/>
          <p:cNvSpPr/>
          <p:nvPr/>
        </p:nvSpPr>
        <p:spPr>
          <a:xfrm>
            <a:off x="4856300" y="2918748"/>
            <a:ext cx="3304900" cy="563750"/>
          </a:xfrm>
          <a:custGeom>
            <a:avLst/>
            <a:gdLst/>
            <a:ahLst/>
            <a:cxnLst/>
            <a:rect l="l" t="t" r="r" b="b"/>
            <a:pathLst>
              <a:path w="132196" h="22550" extrusionOk="0">
                <a:moveTo>
                  <a:pt x="0" y="8807"/>
                </a:moveTo>
                <a:cubicBezTo>
                  <a:pt x="694" y="6035"/>
                  <a:pt x="3612" y="1274"/>
                  <a:pt x="6062" y="2745"/>
                </a:cubicBezTo>
                <a:cubicBezTo>
                  <a:pt x="10974" y="5693"/>
                  <a:pt x="10854" y="13281"/>
                  <a:pt x="14432" y="17755"/>
                </a:cubicBezTo>
                <a:cubicBezTo>
                  <a:pt x="16363" y="20170"/>
                  <a:pt x="20797" y="19768"/>
                  <a:pt x="23668" y="18620"/>
                </a:cubicBezTo>
                <a:cubicBezTo>
                  <a:pt x="31065" y="15662"/>
                  <a:pt x="33417" y="1146"/>
                  <a:pt x="41275" y="2457"/>
                </a:cubicBezTo>
                <a:cubicBezTo>
                  <a:pt x="50739" y="4036"/>
                  <a:pt x="52701" y="24499"/>
                  <a:pt x="62057" y="22373"/>
                </a:cubicBezTo>
                <a:cubicBezTo>
                  <a:pt x="75225" y="19381"/>
                  <a:pt x="83133" y="-3279"/>
                  <a:pt x="96116" y="436"/>
                </a:cubicBezTo>
                <a:cubicBezTo>
                  <a:pt x="100502" y="1691"/>
                  <a:pt x="99240" y="9333"/>
                  <a:pt x="102466" y="12559"/>
                </a:cubicBezTo>
                <a:cubicBezTo>
                  <a:pt x="109557" y="19650"/>
                  <a:pt x="122682" y="20348"/>
                  <a:pt x="132196" y="17177"/>
                </a:cubicBezTo>
              </a:path>
            </a:pathLst>
          </a:custGeom>
          <a:noFill/>
          <a:ln w="19050" cap="flat" cmpd="sng">
            <a:solidFill>
              <a:srgbClr val="FFE599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7" name="Google Shape;187;p24"/>
          <p:cNvSpPr/>
          <p:nvPr/>
        </p:nvSpPr>
        <p:spPr>
          <a:xfrm>
            <a:off x="5187968" y="2532775"/>
            <a:ext cx="144575" cy="288075"/>
          </a:xfrm>
          <a:custGeom>
            <a:avLst/>
            <a:gdLst/>
            <a:ahLst/>
            <a:cxnLst/>
            <a:rect l="l" t="t" r="r" b="b"/>
            <a:pathLst>
              <a:path w="5783" h="11523" extrusionOk="0">
                <a:moveTo>
                  <a:pt x="1742" y="0"/>
                </a:moveTo>
                <a:cubicBezTo>
                  <a:pt x="1455" y="3743"/>
                  <a:pt x="-1668" y="9173"/>
                  <a:pt x="1454" y="11257"/>
                </a:cubicBezTo>
                <a:cubicBezTo>
                  <a:pt x="2665" y="12065"/>
                  <a:pt x="4327" y="10680"/>
                  <a:pt x="5783" y="10680"/>
                </a:cubicBezTo>
              </a:path>
            </a:pathLst>
          </a:custGeom>
          <a:noFill/>
          <a:ln w="19050" cap="flat" cmpd="sng">
            <a:solidFill>
              <a:srgbClr val="FFE599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8" name="Google Shape;188;p24"/>
          <p:cNvSpPr/>
          <p:nvPr/>
        </p:nvSpPr>
        <p:spPr>
          <a:xfrm>
            <a:off x="5209875" y="2662675"/>
            <a:ext cx="79375" cy="7200"/>
          </a:xfrm>
          <a:custGeom>
            <a:avLst/>
            <a:gdLst/>
            <a:ahLst/>
            <a:cxnLst/>
            <a:rect l="l" t="t" r="r" b="b"/>
            <a:pathLst>
              <a:path w="3175" h="288" extrusionOk="0">
                <a:moveTo>
                  <a:pt x="0" y="0"/>
                </a:moveTo>
                <a:cubicBezTo>
                  <a:pt x="1063" y="0"/>
                  <a:pt x="2112" y="288"/>
                  <a:pt x="3175" y="288"/>
                </a:cubicBezTo>
              </a:path>
            </a:pathLst>
          </a:custGeom>
          <a:noFill/>
          <a:ln w="19050" cap="flat" cmpd="sng">
            <a:solidFill>
              <a:srgbClr val="FFE599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9" name="Google Shape;189;p24"/>
          <p:cNvSpPr/>
          <p:nvPr/>
        </p:nvSpPr>
        <p:spPr>
          <a:xfrm>
            <a:off x="5238750" y="2540000"/>
            <a:ext cx="144325" cy="13925"/>
          </a:xfrm>
          <a:custGeom>
            <a:avLst/>
            <a:gdLst/>
            <a:ahLst/>
            <a:cxnLst/>
            <a:rect l="l" t="t" r="r" b="b"/>
            <a:pathLst>
              <a:path w="5773" h="557" extrusionOk="0">
                <a:moveTo>
                  <a:pt x="0" y="289"/>
                </a:moveTo>
                <a:cubicBezTo>
                  <a:pt x="1889" y="666"/>
                  <a:pt x="3945" y="610"/>
                  <a:pt x="5773" y="0"/>
                </a:cubicBezTo>
              </a:path>
            </a:pathLst>
          </a:custGeom>
          <a:noFill/>
          <a:ln w="19050" cap="flat" cmpd="sng">
            <a:solidFill>
              <a:srgbClr val="FFE599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0" name="Google Shape;190;p24"/>
          <p:cNvSpPr/>
          <p:nvPr/>
        </p:nvSpPr>
        <p:spPr>
          <a:xfrm>
            <a:off x="5427386" y="2619375"/>
            <a:ext cx="42250" cy="187625"/>
          </a:xfrm>
          <a:custGeom>
            <a:avLst/>
            <a:gdLst/>
            <a:ahLst/>
            <a:cxnLst/>
            <a:rect l="l" t="t" r="r" b="b"/>
            <a:pathLst>
              <a:path w="1690" h="7505" extrusionOk="0">
                <a:moveTo>
                  <a:pt x="1691" y="0"/>
                </a:moveTo>
                <a:cubicBezTo>
                  <a:pt x="-83" y="1774"/>
                  <a:pt x="-659" y="5729"/>
                  <a:pt x="1114" y="7505"/>
                </a:cubicBezTo>
              </a:path>
            </a:pathLst>
          </a:custGeom>
          <a:noFill/>
          <a:ln w="19050" cap="flat" cmpd="sng">
            <a:solidFill>
              <a:srgbClr val="FFE599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1" name="Google Shape;191;p24"/>
          <p:cNvSpPr/>
          <p:nvPr/>
        </p:nvSpPr>
        <p:spPr>
          <a:xfrm>
            <a:off x="5538035" y="2633800"/>
            <a:ext cx="110500" cy="162675"/>
          </a:xfrm>
          <a:custGeom>
            <a:avLst/>
            <a:gdLst/>
            <a:ahLst/>
            <a:cxnLst/>
            <a:rect l="l" t="t" r="r" b="b"/>
            <a:pathLst>
              <a:path w="4420" h="6507" extrusionOk="0">
                <a:moveTo>
                  <a:pt x="729" y="0"/>
                </a:moveTo>
                <a:cubicBezTo>
                  <a:pt x="-370" y="1832"/>
                  <a:pt x="-237" y="5251"/>
                  <a:pt x="1595" y="6350"/>
                </a:cubicBezTo>
                <a:cubicBezTo>
                  <a:pt x="2645" y="6980"/>
                  <a:pt x="5059" y="4619"/>
                  <a:pt x="4193" y="3753"/>
                </a:cubicBezTo>
              </a:path>
            </a:pathLst>
          </a:custGeom>
          <a:noFill/>
          <a:ln w="19050" cap="flat" cmpd="sng">
            <a:solidFill>
              <a:srgbClr val="FFE599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2" name="Google Shape;192;p24"/>
          <p:cNvSpPr/>
          <p:nvPr/>
        </p:nvSpPr>
        <p:spPr>
          <a:xfrm>
            <a:off x="5498525" y="2681747"/>
            <a:ext cx="151525" cy="9775"/>
          </a:xfrm>
          <a:custGeom>
            <a:avLst/>
            <a:gdLst/>
            <a:ahLst/>
            <a:cxnLst/>
            <a:rect l="l" t="t" r="r" b="b"/>
            <a:pathLst>
              <a:path w="6061" h="391" extrusionOk="0">
                <a:moveTo>
                  <a:pt x="0" y="103"/>
                </a:moveTo>
                <a:cubicBezTo>
                  <a:pt x="2023" y="103"/>
                  <a:pt x="4142" y="-247"/>
                  <a:pt x="6061" y="391"/>
                </a:cubicBezTo>
              </a:path>
            </a:pathLst>
          </a:custGeom>
          <a:noFill/>
          <a:ln w="19050" cap="flat" cmpd="sng">
            <a:solidFill>
              <a:srgbClr val="FFE599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3" name="Google Shape;193;p24"/>
          <p:cNvSpPr/>
          <p:nvPr/>
        </p:nvSpPr>
        <p:spPr>
          <a:xfrm>
            <a:off x="5657275" y="2626600"/>
            <a:ext cx="52375" cy="187600"/>
          </a:xfrm>
          <a:custGeom>
            <a:avLst/>
            <a:gdLst/>
            <a:ahLst/>
            <a:cxnLst/>
            <a:rect l="l" t="t" r="r" b="b"/>
            <a:pathLst>
              <a:path w="2095" h="7504" extrusionOk="0">
                <a:moveTo>
                  <a:pt x="1154" y="0"/>
                </a:moveTo>
                <a:cubicBezTo>
                  <a:pt x="2944" y="1790"/>
                  <a:pt x="1790" y="5714"/>
                  <a:pt x="0" y="7504"/>
                </a:cubicBezTo>
              </a:path>
            </a:pathLst>
          </a:custGeom>
          <a:noFill/>
          <a:ln w="19050" cap="flat" cmpd="sng">
            <a:solidFill>
              <a:srgbClr val="FFE599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4" name="Google Shape;194;p24"/>
          <p:cNvSpPr/>
          <p:nvPr/>
        </p:nvSpPr>
        <p:spPr>
          <a:xfrm>
            <a:off x="5144950" y="2489500"/>
            <a:ext cx="7200" cy="375225"/>
          </a:xfrm>
          <a:custGeom>
            <a:avLst/>
            <a:gdLst/>
            <a:ahLst/>
            <a:cxnLst/>
            <a:rect l="l" t="t" r="r" b="b"/>
            <a:pathLst>
              <a:path w="288" h="15009" extrusionOk="0">
                <a:moveTo>
                  <a:pt x="0" y="0"/>
                </a:moveTo>
                <a:cubicBezTo>
                  <a:pt x="0" y="5004"/>
                  <a:pt x="288" y="10005"/>
                  <a:pt x="288" y="15009"/>
                </a:cubicBezTo>
              </a:path>
            </a:pathLst>
          </a:custGeom>
          <a:noFill/>
          <a:ln w="19050" cap="flat" cmpd="sng">
            <a:solidFill>
              <a:srgbClr val="FFE599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5" name="Google Shape;195;p24"/>
          <p:cNvSpPr/>
          <p:nvPr/>
        </p:nvSpPr>
        <p:spPr>
          <a:xfrm>
            <a:off x="5755381" y="2503925"/>
            <a:ext cx="10100" cy="353575"/>
          </a:xfrm>
          <a:custGeom>
            <a:avLst/>
            <a:gdLst/>
            <a:ahLst/>
            <a:cxnLst/>
            <a:rect l="l" t="t" r="r" b="b"/>
            <a:pathLst>
              <a:path w="404" h="14143" extrusionOk="0">
                <a:moveTo>
                  <a:pt x="405" y="0"/>
                </a:moveTo>
                <a:cubicBezTo>
                  <a:pt x="-261" y="4668"/>
                  <a:pt x="117" y="9428"/>
                  <a:pt x="117" y="14143"/>
                </a:cubicBezTo>
              </a:path>
            </a:pathLst>
          </a:custGeom>
          <a:noFill/>
          <a:ln w="19050" cap="flat" cmpd="sng">
            <a:solidFill>
              <a:srgbClr val="FFE599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6" name="Google Shape;196;p24"/>
          <p:cNvSpPr/>
          <p:nvPr/>
        </p:nvSpPr>
        <p:spPr>
          <a:xfrm>
            <a:off x="4859888" y="3847324"/>
            <a:ext cx="2619375" cy="551525"/>
          </a:xfrm>
          <a:custGeom>
            <a:avLst/>
            <a:gdLst/>
            <a:ahLst/>
            <a:cxnLst/>
            <a:rect l="l" t="t" r="r" b="b"/>
            <a:pathLst>
              <a:path w="104775" h="22061" extrusionOk="0">
                <a:moveTo>
                  <a:pt x="0" y="13282"/>
                </a:moveTo>
                <a:cubicBezTo>
                  <a:pt x="1011" y="8232"/>
                  <a:pt x="3587" y="-1617"/>
                  <a:pt x="8370" y="294"/>
                </a:cubicBezTo>
                <a:cubicBezTo>
                  <a:pt x="16151" y="3403"/>
                  <a:pt x="15812" y="26106"/>
                  <a:pt x="22514" y="21076"/>
                </a:cubicBezTo>
                <a:cubicBezTo>
                  <a:pt x="27873" y="17054"/>
                  <a:pt x="29745" y="9791"/>
                  <a:pt x="33193" y="4046"/>
                </a:cubicBezTo>
                <a:cubicBezTo>
                  <a:pt x="34033" y="2646"/>
                  <a:pt x="35046" y="313"/>
                  <a:pt x="36657" y="582"/>
                </a:cubicBezTo>
                <a:cubicBezTo>
                  <a:pt x="44933" y="1963"/>
                  <a:pt x="49774" y="11102"/>
                  <a:pt x="55707" y="17035"/>
                </a:cubicBezTo>
                <a:cubicBezTo>
                  <a:pt x="57764" y="19092"/>
                  <a:pt x="60054" y="22421"/>
                  <a:pt x="62923" y="21942"/>
                </a:cubicBezTo>
                <a:cubicBezTo>
                  <a:pt x="71916" y="20441"/>
                  <a:pt x="73324" y="-572"/>
                  <a:pt x="81973" y="2314"/>
                </a:cubicBezTo>
                <a:cubicBezTo>
                  <a:pt x="87395" y="4123"/>
                  <a:pt x="88505" y="11705"/>
                  <a:pt x="92075" y="16169"/>
                </a:cubicBezTo>
                <a:cubicBezTo>
                  <a:pt x="94816" y="19596"/>
                  <a:pt x="100387" y="19632"/>
                  <a:pt x="104775" y="19632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7" name="Google Shape;197;p24"/>
          <p:cNvSpPr txBox="1"/>
          <p:nvPr/>
        </p:nvSpPr>
        <p:spPr>
          <a:xfrm>
            <a:off x="7187050" y="3579075"/>
            <a:ext cx="1342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Ref = cos(omega * t)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5635625" y="1443175"/>
            <a:ext cx="2525700" cy="10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100"/>
              <a:buChar char="●"/>
            </a:pPr>
            <a:r>
              <a:rPr lang="en" sz="1100">
                <a:solidFill>
                  <a:srgbClr val="980000"/>
                </a:solidFill>
              </a:rPr>
              <a:t>Mostly DC + Sinusoid at modulation freq</a:t>
            </a:r>
            <a:endParaRPr sz="1100">
              <a:solidFill>
                <a:srgbClr val="980000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100"/>
              <a:buChar char="●"/>
            </a:pPr>
            <a:r>
              <a:rPr lang="en" sz="1100">
                <a:solidFill>
                  <a:srgbClr val="980000"/>
                </a:solidFill>
              </a:rPr>
              <a:t>Sinusoid shifts phase by 180 when detune direction reverses</a:t>
            </a:r>
            <a:endParaRPr sz="11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Demodulating</a:t>
            </a:r>
            <a:endParaRPr/>
          </a:p>
        </p:txBody>
      </p:sp>
      <p:sp>
        <p:nvSpPr>
          <p:cNvPr id="204" name="Google Shape;204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0089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Demodulate photodiode output to generate a new signal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34328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New signal is odd-symmetric about resonance now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34328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Since we now have magnitude </a:t>
            </a:r>
            <a:r>
              <a:rPr lang="en" i="1"/>
              <a:t>and </a:t>
            </a:r>
            <a:r>
              <a:rPr lang="en"/>
              <a:t>direction of the detuning, we can use it as an input signal to our controller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5" name="Google Shape;205;p25"/>
          <p:cNvPicPr preferRelativeResize="0"/>
          <p:nvPr/>
        </p:nvPicPr>
        <p:blipFill rotWithShape="1">
          <a:blip r:embed="rId3">
            <a:alphaModFix/>
          </a:blip>
          <a:srcRect l="9647" t="21270" r="26463" b="30489"/>
          <a:stretch/>
        </p:blipFill>
        <p:spPr>
          <a:xfrm>
            <a:off x="4909800" y="2654298"/>
            <a:ext cx="3922500" cy="2294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5" title="roresp.jpg"/>
          <p:cNvPicPr preferRelativeResize="0"/>
          <p:nvPr/>
        </p:nvPicPr>
        <p:blipFill rotWithShape="1">
          <a:blip r:embed="rId4">
            <a:alphaModFix/>
          </a:blip>
          <a:srcRect l="11394" t="41113" r="30830" b="39430"/>
          <a:stretch/>
        </p:blipFill>
        <p:spPr>
          <a:xfrm>
            <a:off x="4909800" y="644464"/>
            <a:ext cx="3922499" cy="176131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 txBox="1"/>
          <p:nvPr/>
        </p:nvSpPr>
        <p:spPr>
          <a:xfrm>
            <a:off x="7086000" y="2654300"/>
            <a:ext cx="13062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80000"/>
                </a:solidFill>
              </a:rPr>
              <a:t>Positive detune</a:t>
            </a:r>
            <a:endParaRPr sz="1200">
              <a:solidFill>
                <a:srgbClr val="980000"/>
              </a:solidFill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5621200" y="4466675"/>
            <a:ext cx="13998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80000"/>
                </a:solidFill>
              </a:rPr>
              <a:t>Negative detune</a:t>
            </a:r>
            <a:endParaRPr sz="1200">
              <a:solidFill>
                <a:srgbClr val="980000"/>
              </a:solidFill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5816050" y="3266725"/>
            <a:ext cx="1536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80000"/>
                </a:solidFill>
              </a:rPr>
              <a:t>Resonance</a:t>
            </a:r>
            <a:endParaRPr sz="13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Issue: Optical Gain</a:t>
            </a:r>
            <a:endParaRPr/>
          </a:p>
        </p:txBody>
      </p:sp>
      <p:sp>
        <p:nvSpPr>
          <p:cNvPr id="215" name="Google Shape;215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How much optical power we expect to recover per unit detune dictates SNR of signal fed to controller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Some noise we can’t eliminate, but we can make it a proportionately smaller part of our input signal</a:t>
            </a:r>
            <a:endParaRPr dirty="0"/>
          </a:p>
        </p:txBody>
      </p:sp>
      <p:pic>
        <p:nvPicPr>
          <p:cNvPr id="216" name="Google Shape;216;p26" title="bad_snr.jpg"/>
          <p:cNvPicPr preferRelativeResize="0"/>
          <p:nvPr/>
        </p:nvPicPr>
        <p:blipFill rotWithShape="1">
          <a:blip r:embed="rId3">
            <a:alphaModFix/>
          </a:blip>
          <a:srcRect t="20621" b="33575"/>
          <a:stretch/>
        </p:blipFill>
        <p:spPr>
          <a:xfrm>
            <a:off x="775725" y="2976238"/>
            <a:ext cx="3270340" cy="1997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6" title="good_snr.jpg"/>
          <p:cNvPicPr preferRelativeResize="0"/>
          <p:nvPr/>
        </p:nvPicPr>
        <p:blipFill rotWithShape="1">
          <a:blip r:embed="rId4">
            <a:alphaModFix/>
          </a:blip>
          <a:srcRect t="29958" b="20286"/>
          <a:stretch/>
        </p:blipFill>
        <p:spPr>
          <a:xfrm>
            <a:off x="4860673" y="3086112"/>
            <a:ext cx="4096101" cy="1887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Maximize Optical Gain?</a:t>
            </a:r>
            <a:endParaRPr/>
          </a:p>
        </p:txBody>
      </p:sp>
      <p:sp>
        <p:nvSpPr>
          <p:cNvPr id="223" name="Google Shape;223;p27"/>
          <p:cNvSpPr txBox="1"/>
          <p:nvPr/>
        </p:nvSpPr>
        <p:spPr>
          <a:xfrm>
            <a:off x="311700" y="1635137"/>
            <a:ext cx="4665000" cy="28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990000"/>
                </a:solidFill>
              </a:rPr>
              <a:t>Big Idea: The SNR of the error signal we feed to our controller determines the controller’s performance ceiling</a:t>
            </a:r>
            <a:endParaRPr sz="1800" dirty="0">
              <a:solidFill>
                <a:srgbClr val="99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Optimizing Modulation Depth</a:t>
            </a:r>
            <a:endParaRPr/>
          </a:p>
        </p:txBody>
      </p:sp>
      <p:sp>
        <p:nvSpPr>
          <p:cNvPr id="229" name="Google Shape;229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0988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Modulation depth (beta) is determined by the voltage ratio of EOM driver amplitude relative to voltage required to induce 180 degree phase shift in EOM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Determines power distribution over Bessel modes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Want to concentrate power in 0th and first-order modes</a:t>
            </a:r>
            <a:endParaRPr/>
          </a:p>
        </p:txBody>
      </p:sp>
      <p:pic>
        <p:nvPicPr>
          <p:cNvPr id="230" name="Google Shape;230;p28" title="eom_be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500" y="1152475"/>
            <a:ext cx="3733500" cy="2619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>
            <a:spLocks noGrp="1"/>
          </p:cNvSpPr>
          <p:nvPr>
            <p:ph type="title"/>
          </p:nvPr>
        </p:nvSpPr>
        <p:spPr>
          <a:xfrm>
            <a:off x="311700" y="1013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Optimizing Demod Phase</a:t>
            </a:r>
            <a:endParaRPr/>
          </a:p>
        </p:txBody>
      </p:sp>
      <p:sp>
        <p:nvSpPr>
          <p:cNvPr id="236" name="Google Shape;236;p29"/>
          <p:cNvSpPr txBox="1">
            <a:spLocks noGrp="1"/>
          </p:cNvSpPr>
          <p:nvPr>
            <p:ph type="body" idx="1"/>
          </p:nvPr>
        </p:nvSpPr>
        <p:spPr>
          <a:xfrm>
            <a:off x="56375" y="674025"/>
            <a:ext cx="5796000" cy="42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Relative phase between reference signal and input dictates both the sign </a:t>
            </a:r>
            <a:r>
              <a:rPr lang="en" i="1"/>
              <a:t>and </a:t>
            </a:r>
            <a:r>
              <a:rPr lang="en"/>
              <a:t>magnitude of the demodulated output.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Phase difference of over 90 degrees will flip sign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Phase difference near 90 degrees will result in very low gain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get around this by demodulating over two axes 90 degrees apart (IQ Demodulation), then ‘align’ the signal.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Take both signals and feed to a rotation matrix with calculated adjustment angle set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Phase-shift the demod signal directly</a:t>
            </a:r>
            <a:endParaRPr/>
          </a:p>
        </p:txBody>
      </p:sp>
      <p:pic>
        <p:nvPicPr>
          <p:cNvPr id="237" name="Google Shape;237;p29"/>
          <p:cNvPicPr preferRelativeResize="0"/>
          <p:nvPr/>
        </p:nvPicPr>
        <p:blipFill rotWithShape="1">
          <a:blip r:embed="rId3">
            <a:alphaModFix/>
          </a:blip>
          <a:srcRect l="44177" t="22713" r="29486" b="28179"/>
          <a:stretch/>
        </p:blipFill>
        <p:spPr>
          <a:xfrm>
            <a:off x="6159400" y="674020"/>
            <a:ext cx="2672901" cy="2655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 Higher Modulation Frequency</a:t>
            </a:r>
            <a:endParaRPr/>
          </a:p>
        </p:txBody>
      </p:sp>
      <p:sp>
        <p:nvSpPr>
          <p:cNvPr id="243" name="Google Shape;243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cavity response isn’t very ‘sharp’ (low finesse), then the sidebands might still get attenuated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compensate with this, we can modulate/demodulate at a higher frequency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example, keep control circuitry digital but implement the mod/demod over analog</a:t>
            </a:r>
            <a:endParaRPr/>
          </a:p>
        </p:txBody>
      </p:sp>
      <p:pic>
        <p:nvPicPr>
          <p:cNvPr id="244" name="Google Shape;24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100" y="2571750"/>
            <a:ext cx="5507800" cy="239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The Controller</a:t>
            </a:r>
            <a:endParaRPr/>
          </a:p>
        </p:txBody>
      </p:sp>
      <p:pic>
        <p:nvPicPr>
          <p:cNvPr id="250" name="Google Shape;250;p31" title="PID_Full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4203" y="1017725"/>
            <a:ext cx="6265059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Issue: Ensuring Controller Stability</a:t>
            </a:r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Controllers can become unstable when feedback from previous actions arrives too late to be properly accounted for in the controller’s current action.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easiest fix is lowering the rate at which the controller applies its signal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if we lower it too much, then we lose the ability to correct high-frequency noise and may actually make it worse!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a way to determine the highest speed we can run the controller at safely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Calculate Loop Delay</a:t>
            </a:r>
            <a:endParaRPr/>
          </a:p>
        </p:txBody>
      </p:sp>
      <p:sp>
        <p:nvSpPr>
          <p:cNvPr id="262" name="Google Shape;262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1) Send pulse down the loop, start timer and set trigger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2) Stop timer when trigger detects pulse on other end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heuristic is fmax ~= 1/Tloop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Assessing Controller Performance</a:t>
            </a:r>
            <a:endParaRPr/>
          </a:p>
        </p:txBody>
      </p:sp>
      <p:sp>
        <p:nvSpPr>
          <p:cNvPr id="268" name="Google Shape;268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Measure the RMS error signal fed to the controller as input.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controller should reduce this value.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should work, right? </a:t>
            </a:r>
            <a:endParaRPr/>
          </a:p>
        </p:txBody>
      </p:sp>
      <p:pic>
        <p:nvPicPr>
          <p:cNvPr id="269" name="Google Shape;269;p34" title="tu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8025" y="2571750"/>
            <a:ext cx="2354750" cy="235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6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0"/>
              <a:t>No</a:t>
            </a:r>
            <a:r>
              <a:rPr lang="en" sz="29600"/>
              <a:t>.</a:t>
            </a:r>
            <a:endParaRPr sz="29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>
            <a:spLocks noGrp="1"/>
          </p:cNvSpPr>
          <p:nvPr>
            <p:ph type="title"/>
          </p:nvPr>
        </p:nvSpPr>
        <p:spPr>
          <a:xfrm>
            <a:off x="311700" y="474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Issue: Optical Error vs Electrical Noise </a:t>
            </a:r>
            <a:endParaRPr/>
          </a:p>
        </p:txBody>
      </p:sp>
      <p:sp>
        <p:nvSpPr>
          <p:cNvPr id="280" name="Google Shape;280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508200" cy="3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457200" lvl="0" indent="-333074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464"/>
              <a:t>The optical signal passes through electrical circuitry before the controller receives it</a:t>
            </a:r>
            <a:endParaRPr sz="3464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464"/>
              <a:t> </a:t>
            </a:r>
            <a:endParaRPr sz="3464"/>
          </a:p>
          <a:p>
            <a:pPr marL="457200" lvl="0" indent="-333074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3464"/>
              <a:t>This electrical circuitry adds noise that we don’t want our controller to react to</a:t>
            </a:r>
            <a:endParaRPr sz="3464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464"/>
          </a:p>
          <a:p>
            <a:pPr marL="457200" lvl="0" indent="-333074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3464"/>
              <a:t>If we aren’t careful, the controller may also respond to electrical noise</a:t>
            </a:r>
            <a:endParaRPr sz="3464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81" name="Google Shape;281;p36" title="enoise_illustrat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0200" y="1152474"/>
            <a:ext cx="5103798" cy="3806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Delayed Self-Heterodyne</a:t>
            </a:r>
            <a:endParaRPr/>
          </a:p>
        </p:txBody>
      </p:sp>
      <p:sp>
        <p:nvSpPr>
          <p:cNvPr id="287" name="Google Shape;287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Split beam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Increase optical frequency on one arm via AOM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Delay on the other via fiber delay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Recombine both signals and get power via Photodiode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signal is a sinusoid at AOM modulation frequency, demodulate it then get PSD to approximate laser noise PSD.</a:t>
            </a:r>
            <a:endParaRPr/>
          </a:p>
        </p:txBody>
      </p:sp>
      <p:pic>
        <p:nvPicPr>
          <p:cNvPr id="288" name="Google Shape;288;p37" title="delayed_self_heterodyn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014625"/>
            <a:ext cx="5895825" cy="121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7" title="dsh_current.png"/>
          <p:cNvPicPr preferRelativeResize="0"/>
          <p:nvPr/>
        </p:nvPicPr>
        <p:blipFill rotWithShape="1">
          <a:blip r:embed="rId4">
            <a:alphaModFix/>
          </a:blip>
          <a:srcRect l="5060" t="32377" r="4426" b="30881"/>
          <a:stretch/>
        </p:blipFill>
        <p:spPr>
          <a:xfrm>
            <a:off x="5135625" y="4421575"/>
            <a:ext cx="3937649" cy="53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Issue: How do we Pick a Delay?</a:t>
            </a:r>
            <a:endParaRPr/>
          </a:p>
        </p:txBody>
      </p:sp>
      <p:sp>
        <p:nvSpPr>
          <p:cNvPr id="295" name="Google Shape;295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077600" cy="39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Delay too long: Will not be able to see phase changes that happen very quickly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Delay too short: Not enough difference between the two phase values, SNR degrades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96" name="Google Shape;296;p38" title="taucap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3450" y="1251825"/>
            <a:ext cx="4572000" cy="3745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Noise PSD</a:t>
            </a:r>
            <a:endParaRPr/>
          </a:p>
        </p:txBody>
      </p:sp>
      <p:sp>
        <p:nvSpPr>
          <p:cNvPr id="302" name="Google Shape;302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869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Phase difference PSD by itself still not super useful, need to convert to phase noise PSD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Tau delay is phase shift in </a:t>
            </a:r>
            <a:r>
              <a:rPr lang="en" dirty="0" err="1"/>
              <a:t>freq</a:t>
            </a:r>
            <a:r>
              <a:rPr lang="en" dirty="0"/>
              <a:t> domain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Find transfer function relating phase difference noise to phase noise</a:t>
            </a:r>
            <a:endParaRPr dirty="0"/>
          </a:p>
        </p:txBody>
      </p:sp>
      <p:pic>
        <p:nvPicPr>
          <p:cNvPr id="303" name="Google Shape;303;p39" title="textbook_delayed_delta_to_phase_noise_psd.png"/>
          <p:cNvPicPr preferRelativeResize="0"/>
          <p:nvPr/>
        </p:nvPicPr>
        <p:blipFill rotWithShape="1">
          <a:blip r:embed="rId3">
            <a:alphaModFix/>
          </a:blip>
          <a:srcRect l="7656" t="10698" r="36625"/>
          <a:stretch/>
        </p:blipFill>
        <p:spPr>
          <a:xfrm>
            <a:off x="4964825" y="1225000"/>
            <a:ext cx="2832200" cy="269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Tune Our Controller?</a:t>
            </a:r>
            <a:endParaRPr/>
          </a:p>
        </p:txBody>
      </p:sp>
      <p:sp>
        <p:nvSpPr>
          <p:cNvPr id="309" name="Google Shape;309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now have the phase noise PSD and can use it as an objective for tuning our controller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how do we go about actually tuning it? (setting Ki, Kp, Kd etc)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Tuning the Controller</a:t>
            </a:r>
            <a:endParaRPr dirty="0"/>
          </a:p>
        </p:txBody>
      </p:sp>
      <p:sp>
        <p:nvSpPr>
          <p:cNvPr id="315" name="Google Shape;315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774800" cy="38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Can use band-limited root-mean-square of the phase noise PSD as a metric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Get baseline RMS value with controller disengaged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Zero Ki, </a:t>
            </a:r>
            <a:r>
              <a:rPr lang="en" dirty="0" err="1"/>
              <a:t>Kd</a:t>
            </a:r>
            <a:r>
              <a:rPr lang="en" dirty="0"/>
              <a:t>, </a:t>
            </a:r>
            <a:r>
              <a:rPr lang="en" dirty="0" err="1"/>
              <a:t>Kp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Increase </a:t>
            </a:r>
            <a:r>
              <a:rPr lang="en" dirty="0" err="1"/>
              <a:t>Kp</a:t>
            </a:r>
            <a:r>
              <a:rPr lang="en" dirty="0"/>
              <a:t> until we start to see new oscillation spike on phase noise PSD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Reduce </a:t>
            </a:r>
            <a:r>
              <a:rPr lang="en" dirty="0" err="1"/>
              <a:t>Kp</a:t>
            </a:r>
            <a:r>
              <a:rPr lang="en" dirty="0"/>
              <a:t> until spike gone, </a:t>
            </a:r>
            <a:r>
              <a:rPr lang="en" dirty="0" err="1"/>
              <a:t>inc</a:t>
            </a:r>
            <a:r>
              <a:rPr lang="en" dirty="0"/>
              <a:t> </a:t>
            </a:r>
            <a:r>
              <a:rPr lang="en" dirty="0" err="1"/>
              <a:t>Kd</a:t>
            </a:r>
            <a:r>
              <a:rPr lang="en" dirty="0"/>
              <a:t> while doing so reduces RMS MZI output PSD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Increase Ki while doing so reduces RMS MZI output PSD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16" name="Google Shape;316;p41" title="results.png"/>
          <p:cNvPicPr preferRelativeResize="0"/>
          <p:nvPr/>
        </p:nvPicPr>
        <p:blipFill rotWithShape="1">
          <a:blip r:embed="rId3">
            <a:alphaModFix/>
          </a:blip>
          <a:srcRect l="3670"/>
          <a:stretch/>
        </p:blipFill>
        <p:spPr>
          <a:xfrm>
            <a:off x="5086500" y="1338400"/>
            <a:ext cx="3988700" cy="24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Filtering Electrical Noise</a:t>
            </a:r>
            <a:endParaRPr/>
          </a:p>
        </p:txBody>
      </p:sp>
      <p:sp>
        <p:nvSpPr>
          <p:cNvPr id="322" name="Google Shape;322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Sometimes electrical noise is just there and there’s nothing we can do about it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need to filter it out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3"/>
          <p:cNvSpPr txBox="1">
            <a:spLocks noGrp="1"/>
          </p:cNvSpPr>
          <p:nvPr>
            <p:ph type="title"/>
          </p:nvPr>
        </p:nvSpPr>
        <p:spPr>
          <a:xfrm>
            <a:off x="311700" y="36189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FIR Filter</a:t>
            </a:r>
            <a:endParaRPr/>
          </a:p>
        </p:txBody>
      </p:sp>
      <p:pic>
        <p:nvPicPr>
          <p:cNvPr id="328" name="Google Shape;328;p43" title="fir_adder_tr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4887" y="64828"/>
            <a:ext cx="3394901" cy="2564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3" title="windowed_sin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485" y="1618392"/>
            <a:ext cx="3429179" cy="3007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872F97-4462-14CD-DA77-CBFEA3217B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148" y="2658692"/>
            <a:ext cx="3238500" cy="21526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335" name="Google Shape;335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977800" cy="30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control/digital filtering on FPGA fabric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Mod/demod either on fabric or standalone PCB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HPS allows the whole system to be software-defined</a:t>
            </a:r>
            <a:endParaRPr/>
          </a:p>
        </p:txBody>
      </p:sp>
      <p:pic>
        <p:nvPicPr>
          <p:cNvPr id="336" name="Google Shape;336;p44" title="PDH_Full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5226" y="303275"/>
            <a:ext cx="5618775" cy="48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HPS Interfacing</a:t>
            </a:r>
            <a:endParaRPr/>
          </a:p>
        </p:txBody>
      </p:sp>
      <p:sp>
        <p:nvSpPr>
          <p:cNvPr id="342" name="Google Shape;342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Control plane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Lets processor configure FPGA circuitry as needed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Latency concern is minimal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Data plane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FPGA can dump its signals into a BRAM block and feed that data to processor’s DMA controller over an AXI3 interface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Lets processor get large amounts of real-time data off the FPGA quickly without impeding the fabric’s operation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Useful for things like tapping controller/filter signals, viewing PSD’s </a:t>
            </a:r>
            <a:r>
              <a:rPr lang="en" dirty="0" err="1"/>
              <a:t>etc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GIC interface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Fabric can assert interrupt signal to GIC’s IRQ vector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Processor can respond to interrupt as needed based on the context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Issue: Clock Skew and Metastability</a:t>
            </a:r>
            <a:endParaRPr/>
          </a:p>
        </p:txBody>
      </p:sp>
      <p:sp>
        <p:nvSpPr>
          <p:cNvPr id="348" name="Google Shape;348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054400" cy="3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 dirty="0"/>
              <a:t>Metastability happens when the (changing) signal going into a flip-flop has not been asserted long enough before the clock edge or is not held long enough after the clock edge</a:t>
            </a:r>
            <a:endParaRPr sz="1700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 dirty="0"/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 dirty="0"/>
              <a:t>Clock skew happens when the data going into a system doesn’t arrive at the same time as what that system is clocked on</a:t>
            </a:r>
            <a:endParaRPr sz="1700" dirty="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 dirty="0"/>
              <a:t>Could be metastable</a:t>
            </a:r>
            <a:endParaRPr sz="1700" dirty="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 dirty="0"/>
              <a:t>Could assume old data is still valid</a:t>
            </a:r>
            <a:endParaRPr sz="1700"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49" name="Google Shape;349;p46" title="cd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7674" y="2633800"/>
            <a:ext cx="3466326" cy="250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6" title="sk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6593" y="164425"/>
            <a:ext cx="2355316" cy="240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Primitive: Flip-Flop Sync</a:t>
            </a:r>
            <a:endParaRPr/>
          </a:p>
        </p:txBody>
      </p:sp>
      <p:sp>
        <p:nvSpPr>
          <p:cNvPr id="356" name="Google Shape;356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674600" cy="38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The flip-flops </a:t>
            </a:r>
            <a:r>
              <a:rPr lang="en" i="1" dirty="0"/>
              <a:t>want</a:t>
            </a:r>
            <a:r>
              <a:rPr lang="en" dirty="0"/>
              <a:t> to be stable, they just need time :)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First flip-flop will take brunt of metastable signal, but it has a whole clock cycle to resolve cleanly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Second flip flop will have exponentially lower chance of also receiving a metastable input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Need lower probability of metastability? Add more flip flops!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57" name="Google Shape;357;p47" title="2ff_sync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8100" y="1152475"/>
            <a:ext cx="2605201" cy="309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Plane Solution: Strobe Protocol</a:t>
            </a:r>
            <a:endParaRPr/>
          </a:p>
        </p:txBody>
      </p:sp>
      <p:sp>
        <p:nvSpPr>
          <p:cNvPr id="363" name="Google Shape;363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FF-Sync can lower probability of metastable output to ~0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Doesn’t guarantee that that output value matched what the input was supposed to be if the input is metastable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For 1-bit signals this means the signal will get delayed by a clock cycle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For multi-bit signals, this means that the signal might be torn (like with clock skew)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Solution: send out our data bits first, then send a strobe bit to mark them as valid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If strobe 0-1 transition catches an edge and gets delayed by one cycle, whatever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Guarantees that data bits have stabilized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Can send callback signal to processor when input is received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Emit GIC IRQ to notify processor that callback has been sent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Processor can service callback either in the IRQ handler directly or use IRQ as a threading signal (UIO handler) </a:t>
            </a:r>
            <a:r>
              <a:rPr lang="en" dirty="0" err="1"/>
              <a:t>etc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Plane Solution: Dual-Port BRAM</a:t>
            </a:r>
            <a:endParaRPr/>
          </a:p>
        </p:txBody>
      </p:sp>
      <p:sp>
        <p:nvSpPr>
          <p:cNvPr id="369" name="Google Shape;369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Clock BRAM input on ADC clock domain, clock output on processor domain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Write to / Write from BRAM via FSM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Start-finish protocol on each FSM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Start and finish signals 3ff synchronized between fabric core and AXI DMA module feeding to processor’s DMA controller</a:t>
            </a:r>
            <a:endParaRPr dirty="0"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Much faster/simpler than async FIFO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Easier to debug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Can run at max clock rate without overflow, will never jam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We have enough BRAM for it… or do we?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Issue: NCO BRAM Consumption</a:t>
            </a:r>
            <a:endParaRPr/>
          </a:p>
        </p:txBody>
      </p:sp>
      <p:sp>
        <p:nvSpPr>
          <p:cNvPr id="375" name="Google Shape;375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Two main ways to generate a sine wave digitally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LUT: Have table of sin coefficients and iterate through it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CORDIC: Algorithm that calculates </a:t>
            </a:r>
            <a:r>
              <a:rPr lang="en" dirty="0" err="1"/>
              <a:t>coeff</a:t>
            </a:r>
            <a:r>
              <a:rPr lang="en" dirty="0"/>
              <a:t> with progressively more accuracy, requires multiple clock cycles</a:t>
            </a:r>
            <a:endParaRPr dirty="0"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CORDIC will decimate our top-end rate, bad if our cavity finesse is low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Need LUT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Still want high accuracy at lower </a:t>
            </a:r>
            <a:r>
              <a:rPr lang="en" dirty="0" err="1"/>
              <a:t>freqs</a:t>
            </a:r>
            <a:r>
              <a:rPr lang="en" dirty="0"/>
              <a:t> and low jitter at high </a:t>
            </a:r>
            <a:r>
              <a:rPr lang="en" dirty="0" err="1"/>
              <a:t>freqs</a:t>
            </a:r>
            <a:r>
              <a:rPr lang="en" dirty="0"/>
              <a:t> so the table may need to be large</a:t>
            </a:r>
            <a:endParaRPr dirty="0"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 err="1"/>
              <a:t>FULL-size</a:t>
            </a:r>
            <a:r>
              <a:rPr lang="en" dirty="0"/>
              <a:t> high-resolution LUT can take up a LOT of BRAM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~4096 16-bit </a:t>
            </a:r>
            <a:r>
              <a:rPr lang="en" dirty="0" err="1"/>
              <a:t>coeffs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Quarter-Wave Table</a:t>
            </a:r>
            <a:endParaRPr/>
          </a:p>
        </p:txBody>
      </p:sp>
      <p:sp>
        <p:nvSpPr>
          <p:cNvPr id="381" name="Google Shape;381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just keep a quarter of the sine wave period in memory and flip traversal order/sign as needed as we advance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Cuts down our memory footprint by a factor of 4!</a:t>
            </a:r>
            <a:endParaRPr/>
          </a:p>
        </p:txBody>
      </p:sp>
      <p:pic>
        <p:nvPicPr>
          <p:cNvPr id="382" name="Google Shape;382;p51" title="sin-symmet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" y="3091850"/>
            <a:ext cx="826770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Covered</a:t>
            </a:r>
            <a:endParaRPr/>
          </a:p>
        </p:txBody>
      </p:sp>
      <p:sp>
        <p:nvSpPr>
          <p:cNvPr id="388" name="Google Shape;388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Why eliminating laser noise is useful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Basic principles behind the Pound-Drever-Hall method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Practical controller implementation with considerations for the optical environment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Hardware-software system integration for better system reconfigurability/ergonomics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Implementation considerations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2076</Words>
  <Application>Microsoft Macintosh PowerPoint</Application>
  <PresentationFormat>On-screen Show (16:9)</PresentationFormat>
  <Paragraphs>214</Paragraphs>
  <Slides>41</Slides>
  <Notes>41</Notes>
  <HiddenSlides>7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3" baseType="lpstr">
      <vt:lpstr>Arial</vt:lpstr>
      <vt:lpstr>Simple Light</vt:lpstr>
      <vt:lpstr>How to Lock a Laser</vt:lpstr>
      <vt:lpstr>What is a Laser and Why is it Useful?</vt:lpstr>
      <vt:lpstr>The Problem</vt:lpstr>
      <vt:lpstr>The Solution</vt:lpstr>
      <vt:lpstr>How Do We Measure This?</vt:lpstr>
      <vt:lpstr>Complex Conjugate FD Response</vt:lpstr>
      <vt:lpstr>Bessel Expansion of a Modulated Sinusoid</vt:lpstr>
      <vt:lpstr>Series Discriminator Response and Power Output</vt:lpstr>
      <vt:lpstr>Getting Rid Of The Carrier</vt:lpstr>
      <vt:lpstr>Getting Rid Of The Carrier</vt:lpstr>
      <vt:lpstr>Getting Rid Of The Carrier</vt:lpstr>
      <vt:lpstr>Getting Rid Of The Carrier</vt:lpstr>
      <vt:lpstr>After Demodulating</vt:lpstr>
      <vt:lpstr>Issue: Optical Gain</vt:lpstr>
      <vt:lpstr>How do we Maximize Optical Gain?</vt:lpstr>
      <vt:lpstr>Optimizing Modulation Depth</vt:lpstr>
      <vt:lpstr>Optimizing Demod Phase</vt:lpstr>
      <vt:lpstr>Using a Higher Modulation Frequency</vt:lpstr>
      <vt:lpstr>Introducing The Controller</vt:lpstr>
      <vt:lpstr>Issue: Ensuring Controller Stability</vt:lpstr>
      <vt:lpstr>Solution: Calculate Loop Delay</vt:lpstr>
      <vt:lpstr>Assessing Controller Performance</vt:lpstr>
      <vt:lpstr>No.</vt:lpstr>
      <vt:lpstr>Issue: Optical Error vs Electrical Noise </vt:lpstr>
      <vt:lpstr>Solution: Delayed Self-Heterodyne</vt:lpstr>
      <vt:lpstr>Issue: How do we Pick a Delay?</vt:lpstr>
      <vt:lpstr>Phase Noise PSD</vt:lpstr>
      <vt:lpstr>How Do We Tune Our Controller?</vt:lpstr>
      <vt:lpstr>Tuning the Controller</vt:lpstr>
      <vt:lpstr>Filtering Electrical Noise</vt:lpstr>
      <vt:lpstr>Solution: FIR Filter</vt:lpstr>
      <vt:lpstr>Implementation</vt:lpstr>
      <vt:lpstr>HPS Interfacing</vt:lpstr>
      <vt:lpstr>Issue: Clock Skew and Metastability</vt:lpstr>
      <vt:lpstr>Solution Primitive: Flip-Flop Sync</vt:lpstr>
      <vt:lpstr>Control Plane Solution: Strobe Protocol</vt:lpstr>
      <vt:lpstr>Data Plane Solution: Dual-Port BRAM</vt:lpstr>
      <vt:lpstr>Issue: NCO BRAM Consumption</vt:lpstr>
      <vt:lpstr>Solution: Quarter-Wave Table</vt:lpstr>
      <vt:lpstr>What We Covered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Lock a Laser</dc:title>
  <cp:lastModifiedBy>ncm88@student.ubc.ca</cp:lastModifiedBy>
  <cp:revision>7</cp:revision>
  <dcterms:modified xsi:type="dcterms:W3CDTF">2026-05-21T16:47:56Z</dcterms:modified>
</cp:coreProperties>
</file>